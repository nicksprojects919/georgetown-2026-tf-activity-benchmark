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 id="214748369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5143500" cx="9144000"/>
  <p:notesSz cx="6858000" cy="9144000"/>
  <p:embeddedFontLst>
    <p:embeddedFont>
      <p:font typeface="DM Sans Medium"/>
      <p:regular r:id="rId22"/>
      <p:bold r:id="rId23"/>
      <p:italic r:id="rId24"/>
      <p:boldItalic r:id="rId25"/>
    </p:embeddedFont>
    <p:embeddedFont>
      <p:font typeface="Nunito"/>
      <p:regular r:id="rId26"/>
      <p:bold r:id="rId27"/>
      <p:italic r:id="rId28"/>
      <p:boldItalic r:id="rId29"/>
    </p:embeddedFont>
    <p:embeddedFont>
      <p:font typeface="Maven Pro"/>
      <p:regular r:id="rId30"/>
      <p:bold r:id="rId31"/>
    </p:embeddedFont>
    <p:embeddedFont>
      <p:font typeface="Merriweather"/>
      <p:regular r:id="rId32"/>
      <p:bold r:id="rId33"/>
      <p:italic r:id="rId34"/>
      <p:boldItalic r:id="rId35"/>
    </p:embeddedFont>
    <p:embeddedFont>
      <p:font typeface="DM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F3B15C-0D32-441E-9DF2-4AB083E585C5}">
  <a:tblStyle styleId="{53F3B15C-0D32-441E-9DF2-4AB083E585C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DMSansMedium-regular.fntdata"/><Relationship Id="rId21" Type="http://schemas.openxmlformats.org/officeDocument/2006/relationships/slide" Target="slides/slide14.xml"/><Relationship Id="rId24" Type="http://schemas.openxmlformats.org/officeDocument/2006/relationships/font" Target="fonts/DMSansMedium-italic.fntdata"/><Relationship Id="rId23" Type="http://schemas.openxmlformats.org/officeDocument/2006/relationships/font" Target="fonts/DMSansMedium-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Nunito-regular.fntdata"/><Relationship Id="rId25" Type="http://schemas.openxmlformats.org/officeDocument/2006/relationships/font" Target="fonts/DMSansMedium-boldItalic.fntdata"/><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Nunito-bold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4.xml"/><Relationship Id="rId33" Type="http://schemas.openxmlformats.org/officeDocument/2006/relationships/font" Target="fonts/Merriweather-bold.fntdata"/><Relationship Id="rId10" Type="http://schemas.openxmlformats.org/officeDocument/2006/relationships/slide" Target="slides/slide3.xml"/><Relationship Id="rId32" Type="http://schemas.openxmlformats.org/officeDocument/2006/relationships/font" Target="fonts/Merriweather-regular.fntdata"/><Relationship Id="rId13" Type="http://schemas.openxmlformats.org/officeDocument/2006/relationships/slide" Target="slides/slide6.xml"/><Relationship Id="rId35" Type="http://schemas.openxmlformats.org/officeDocument/2006/relationships/font" Target="fonts/Merriweather-boldItalic.fntdata"/><Relationship Id="rId12" Type="http://schemas.openxmlformats.org/officeDocument/2006/relationships/slide" Target="slides/slide5.xml"/><Relationship Id="rId34" Type="http://schemas.openxmlformats.org/officeDocument/2006/relationships/font" Target="fonts/Merriweather-italic.fntdata"/><Relationship Id="rId15" Type="http://schemas.openxmlformats.org/officeDocument/2006/relationships/slide" Target="slides/slide8.xml"/><Relationship Id="rId37" Type="http://schemas.openxmlformats.org/officeDocument/2006/relationships/font" Target="fonts/DMSans-bold.fntdata"/><Relationship Id="rId14" Type="http://schemas.openxmlformats.org/officeDocument/2006/relationships/slide" Target="slides/slide7.xml"/><Relationship Id="rId36" Type="http://schemas.openxmlformats.org/officeDocument/2006/relationships/font" Target="fonts/DMSans-regular.fntdata"/><Relationship Id="rId17" Type="http://schemas.openxmlformats.org/officeDocument/2006/relationships/slide" Target="slides/slide10.xml"/><Relationship Id="rId39" Type="http://schemas.openxmlformats.org/officeDocument/2006/relationships/font" Target="fonts/DMSans-boldItalic.fntdata"/><Relationship Id="rId16" Type="http://schemas.openxmlformats.org/officeDocument/2006/relationships/slide" Target="slides/slide9.xml"/><Relationship Id="rId38" Type="http://schemas.openxmlformats.org/officeDocument/2006/relationships/font" Target="fonts/DMSans-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f6e9da0eb4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f6e9da0eb4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f6e9da0eb4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f6e9da0eb4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500">
                <a:solidFill>
                  <a:srgbClr val="121212"/>
                </a:solidFill>
                <a:latin typeface="DM Sans"/>
                <a:ea typeface="DM Sans"/>
                <a:cs typeface="DM Sans"/>
                <a:sym typeface="DM Sans"/>
              </a:rPr>
              <a:t>K562 and MCF7 represent two biologically different cancer cell lines. My main question was whether the three computational workflows would identify transcription factors associated with these different regulatory states. I also wanted to determine how much their predictions agreed and whether they recovered regulators already reported in the literature</a:t>
            </a:r>
            <a:endParaRPr sz="1500">
              <a:solidFill>
                <a:srgbClr val="121212"/>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500">
              <a:solidFill>
                <a:srgbClr val="121212"/>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500">
              <a:solidFill>
                <a:srgbClr val="121212"/>
              </a:solidFill>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f6e9da0eb4_0_9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f6e9da0eb4_0_9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121212"/>
                </a:solidFill>
                <a:latin typeface="DM Sans"/>
                <a:ea typeface="DM Sans"/>
                <a:cs typeface="DM Sans"/>
                <a:sym typeface="DM Sans"/>
              </a:rPr>
              <a:t>What makes cell lines untrustworthy???</a:t>
            </a:r>
            <a:endParaRPr sz="1500">
              <a:solidFill>
                <a:srgbClr val="121212"/>
              </a:solidFill>
              <a:latin typeface="DM Sans"/>
              <a:ea typeface="DM Sans"/>
              <a:cs typeface="DM Sans"/>
              <a:sym typeface="DM Sans"/>
            </a:endParaRPr>
          </a:p>
          <a:p>
            <a:pPr indent="0" lvl="0" marL="0" rtl="0" algn="l">
              <a:spcBef>
                <a:spcPts val="0"/>
              </a:spcBef>
              <a:spcAft>
                <a:spcPts val="0"/>
              </a:spcAft>
              <a:buNone/>
            </a:pPr>
            <a:r>
              <a:t/>
            </a:r>
            <a:endParaRPr sz="1500">
              <a:solidFill>
                <a:srgbClr val="121212"/>
              </a:solidFill>
              <a:latin typeface="DM Sans"/>
              <a:ea typeface="DM Sans"/>
              <a:cs typeface="DM Sans"/>
              <a:sym typeface="DM Sans"/>
            </a:endParaRPr>
          </a:p>
          <a:p>
            <a:pPr indent="0" lvl="0" marL="0" rtl="0" algn="l">
              <a:spcBef>
                <a:spcPts val="0"/>
              </a:spcBef>
              <a:spcAft>
                <a:spcPts val="0"/>
              </a:spcAft>
              <a:buNone/>
            </a:pPr>
            <a:r>
              <a:rPr lang="en" sz="1500">
                <a:solidFill>
                  <a:srgbClr val="121212"/>
                </a:solidFill>
                <a:latin typeface="DM Sans"/>
                <a:ea typeface="DM Sans"/>
                <a:cs typeface="DM Sans"/>
                <a:sym typeface="DM Sans"/>
              </a:rPr>
              <a:t>They are from individual cancers.</a:t>
            </a:r>
            <a:endParaRPr sz="1500">
              <a:solidFill>
                <a:srgbClr val="121212"/>
              </a:solidFill>
              <a:latin typeface="DM Sans"/>
              <a:ea typeface="DM Sans"/>
              <a:cs typeface="DM Sans"/>
              <a:sym typeface="DM Sans"/>
            </a:endParaRPr>
          </a:p>
          <a:p>
            <a:pPr indent="0" lvl="0" marL="0" rtl="0" algn="l">
              <a:spcBef>
                <a:spcPts val="0"/>
              </a:spcBef>
              <a:spcAft>
                <a:spcPts val="0"/>
              </a:spcAft>
              <a:buNone/>
            </a:pPr>
            <a:r>
              <a:rPr lang="en" sz="1500">
                <a:solidFill>
                  <a:srgbClr val="121212"/>
                </a:solidFill>
                <a:latin typeface="DM Sans"/>
                <a:ea typeface="DM Sans"/>
                <a:cs typeface="DM Sans"/>
                <a:sym typeface="DM Sans"/>
              </a:rPr>
              <a:t>They don’t represent the full tumor environment or the diversity among patients</a:t>
            </a:r>
            <a:endParaRPr sz="1500">
              <a:solidFill>
                <a:srgbClr val="121212"/>
              </a:solidFill>
              <a:latin typeface="DM Sans"/>
              <a:ea typeface="DM Sans"/>
              <a:cs typeface="DM Sans"/>
              <a:sym typeface="DM Sans"/>
            </a:endParaRPr>
          </a:p>
          <a:p>
            <a:pPr indent="0" lvl="0" marL="0" rtl="0" algn="l">
              <a:spcBef>
                <a:spcPts val="0"/>
              </a:spcBef>
              <a:spcAft>
                <a:spcPts val="0"/>
              </a:spcAft>
              <a:buNone/>
            </a:pPr>
            <a:r>
              <a:rPr lang="en" sz="1500">
                <a:solidFill>
                  <a:srgbClr val="121212"/>
                </a:solidFill>
                <a:latin typeface="DM Sans"/>
                <a:ea typeface="DM Sans"/>
                <a:cs typeface="DM Sans"/>
                <a:sym typeface="DM Sans"/>
              </a:rPr>
              <a:t>The datasets used are from just each cell line nothing else.</a:t>
            </a:r>
            <a:endParaRPr sz="1500">
              <a:solidFill>
                <a:srgbClr val="121212"/>
              </a:solidFill>
              <a:latin typeface="DM Sans"/>
              <a:ea typeface="DM Sans"/>
              <a:cs typeface="DM Sans"/>
              <a:sym typeface="DM Sans"/>
            </a:endParaRPr>
          </a:p>
          <a:p>
            <a:pPr indent="0" lvl="0" marL="0" rtl="0" algn="l">
              <a:spcBef>
                <a:spcPts val="0"/>
              </a:spcBef>
              <a:spcAft>
                <a:spcPts val="0"/>
              </a:spcAft>
              <a:buNone/>
            </a:pPr>
            <a:r>
              <a:rPr lang="en" sz="1500">
                <a:solidFill>
                  <a:srgbClr val="121212"/>
                </a:solidFill>
                <a:latin typeface="DM Sans"/>
                <a:ea typeface="DM Sans"/>
                <a:cs typeface="DM Sans"/>
                <a:sym typeface="DM Sans"/>
              </a:rPr>
              <a:t>Cell lines can change overtime from culture to culture</a:t>
            </a:r>
            <a:endParaRPr sz="1500">
              <a:solidFill>
                <a:srgbClr val="121212"/>
              </a:solidFill>
              <a:latin typeface="DM Sans"/>
              <a:ea typeface="DM Sans"/>
              <a:cs typeface="DM Sans"/>
              <a:sym typeface="DM Sans"/>
            </a:endParaRPr>
          </a:p>
          <a:p>
            <a:pPr indent="0" lvl="0" marL="0" rtl="0" algn="l">
              <a:spcBef>
                <a:spcPts val="0"/>
              </a:spcBef>
              <a:spcAft>
                <a:spcPts val="0"/>
              </a:spcAft>
              <a:buNone/>
            </a:pPr>
            <a:r>
              <a:t/>
            </a:r>
            <a:endParaRPr sz="1500">
              <a:solidFill>
                <a:srgbClr val="121212"/>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n" sz="1500">
                <a:solidFill>
                  <a:srgbClr val="121212"/>
                </a:solidFill>
                <a:latin typeface="DM Sans"/>
                <a:ea typeface="DM Sans"/>
                <a:cs typeface="DM Sans"/>
                <a:sym typeface="DM Sans"/>
              </a:rPr>
              <a:t>Should not be generalized into CML or breast cancer overall</a:t>
            </a:r>
            <a:endParaRPr sz="1500">
              <a:solidFill>
                <a:srgbClr val="121212"/>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f6e9da0eb4_0_10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f6e9da0eb4_0_10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400"/>
              <a:t>TF-Prioritizer connects chromatin accessibility with gene expression through three main tools.</a:t>
            </a:r>
            <a:endParaRPr sz="1400"/>
          </a:p>
          <a:p>
            <a:pPr indent="0" lvl="0" marL="0" rtl="0" algn="l">
              <a:spcBef>
                <a:spcPts val="0"/>
              </a:spcBef>
              <a:spcAft>
                <a:spcPts val="0"/>
              </a:spcAft>
              <a:buClr>
                <a:schemeClr val="dk1"/>
              </a:buClr>
              <a:buSzPts val="1100"/>
              <a:buFont typeface="Arial"/>
              <a:buNone/>
            </a:pPr>
            <a:r>
              <a:rPr b="1" lang="en" sz="1400"/>
              <a:t>HINT </a:t>
            </a:r>
            <a:r>
              <a:rPr lang="en" sz="1400"/>
              <a:t>examines the DNase-seq read signal and predicts</a:t>
            </a:r>
            <a:r>
              <a:rPr b="1" lang="en" sz="1400"/>
              <a:t> footprints</a:t>
            </a:r>
            <a:r>
              <a:rPr lang="en" sz="1400"/>
              <a:t>, which are short protected regions within accessible chromatin that may indicate TF binding.</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b="1" lang="en" sz="1400"/>
              <a:t>TEPIC </a:t>
            </a:r>
            <a:r>
              <a:rPr lang="en" sz="1400"/>
              <a:t>scans these regions for known TF motifs, estimates how strongly each TF could bind and connects the regions to potential target genes.</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Clr>
                <a:schemeClr val="dk1"/>
              </a:buClr>
              <a:buSzPts val="1100"/>
              <a:buFont typeface="Arial"/>
              <a:buNone/>
            </a:pPr>
            <a:r>
              <a:rPr b="1" lang="en" sz="1400"/>
              <a:t>DYNAMITE </a:t>
            </a:r>
            <a:r>
              <a:rPr lang="en" sz="1400"/>
              <a:t>then uses regression to determine which TF–gene relationships best explain the expression differences measured from RNA-seq.</a:t>
            </a:r>
            <a:endParaRPr sz="1400"/>
          </a:p>
          <a:p>
            <a:pPr indent="-317500" lvl="0" marL="457200" rtl="0" algn="l">
              <a:spcBef>
                <a:spcPts val="0"/>
              </a:spcBef>
              <a:spcAft>
                <a:spcPts val="0"/>
              </a:spcAft>
              <a:buSzPts val="1400"/>
              <a:buChar char="-"/>
            </a:pPr>
            <a:r>
              <a:rPr lang="en" sz="1400"/>
              <a:t>Compares the scores between cell lines and produces a table where each row is gene and each column is TF</a:t>
            </a:r>
            <a:endParaRPr sz="1400"/>
          </a:p>
          <a:p>
            <a:pPr indent="-317500" lvl="0" marL="457200" rtl="0" algn="l">
              <a:spcBef>
                <a:spcPts val="0"/>
              </a:spcBef>
              <a:spcAft>
                <a:spcPts val="0"/>
              </a:spcAft>
              <a:buSzPts val="1400"/>
              <a:buChar char="-"/>
            </a:pPr>
            <a:r>
              <a:rPr lang="en" sz="1400"/>
              <a:t>Each gene then labeled whether its expression is higher in one cell line than the other</a:t>
            </a:r>
            <a:endParaRPr sz="1400"/>
          </a:p>
          <a:p>
            <a:pPr indent="-317500" lvl="0" marL="457200" rtl="0" algn="l">
              <a:spcBef>
                <a:spcPts val="0"/>
              </a:spcBef>
              <a:spcAft>
                <a:spcPts val="0"/>
              </a:spcAft>
              <a:buSzPts val="1400"/>
              <a:buChar char="-"/>
            </a:pPr>
            <a:r>
              <a:rPr lang="en" sz="1400"/>
              <a:t>The regression model looks across all genes to determine which changes in TF-gene scores are most associated with the rna-seq expression labels</a:t>
            </a:r>
            <a:endParaRPr sz="1400"/>
          </a:p>
          <a:p>
            <a:pPr indent="-317500" lvl="0" marL="457200" rtl="0" algn="l">
              <a:spcBef>
                <a:spcPts val="0"/>
              </a:spcBef>
              <a:spcAft>
                <a:spcPts val="0"/>
              </a:spcAft>
              <a:buSzPts val="1400"/>
              <a:buChar char="-"/>
            </a:pPr>
            <a:r>
              <a:rPr lang="en" sz="1400"/>
              <a:t>Gives each TF a weight (</a:t>
            </a:r>
            <a:r>
              <a:rPr b="1" lang="en" sz="1400"/>
              <a:t>Coefficient</a:t>
            </a:r>
            <a:r>
              <a:rPr lang="en" sz="1400"/>
              <a:t>) based on how useful its score changes are for predicting the direction of gene expression change</a:t>
            </a:r>
            <a:endParaRPr sz="1400"/>
          </a:p>
          <a:p>
            <a:pPr indent="-317500" lvl="0" marL="457200" rtl="0" algn="l">
              <a:spcBef>
                <a:spcPts val="0"/>
              </a:spcBef>
              <a:spcAft>
                <a:spcPts val="0"/>
              </a:spcAft>
              <a:buSzPts val="1400"/>
              <a:buChar char="-"/>
            </a:pPr>
            <a:r>
              <a:rPr lang="en" sz="1400"/>
              <a:t>Removes weak coefficients by setting them to 0, larger nonzero coefficients are predicted to be more useful</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TF-Prioritizer combines binding affinity, regression coefficients and target-gene expression changes to rank the transcription factors most likely to contribute to the differences between K562 and MCF7.</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Know each step and what it does</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f6e9da0eb4_0_1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f6e9da0eb4_0_1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400"/>
              <a:t>nf-core/tfactivity follows the same general approach as TF-Prioritizer by combining accessible chromatin with gene expression to rank transcription factors. Unlike TF-Prioritizer’s HINT–TEPIC route, tfactivity used STARE</a:t>
            </a:r>
            <a:endParaRPr sz="1400"/>
          </a:p>
          <a:p>
            <a:pPr indent="0" lvl="0" marL="0" rtl="0" algn="l">
              <a:lnSpc>
                <a:spcPct val="115000"/>
              </a:lnSpc>
              <a:spcBef>
                <a:spcPts val="1200"/>
              </a:spcBef>
              <a:spcAft>
                <a:spcPts val="0"/>
              </a:spcAft>
              <a:buClr>
                <a:schemeClr val="dk1"/>
              </a:buClr>
              <a:buSzPts val="1100"/>
              <a:buFont typeface="Arial"/>
              <a:buNone/>
            </a:pPr>
            <a:r>
              <a:rPr lang="en" sz="1400"/>
              <a:t>The main difference is that tfactivity is built with Nextflow. </a:t>
            </a:r>
            <a:r>
              <a:rPr b="1" lang="en" sz="1400"/>
              <a:t>Nextflow </a:t>
            </a:r>
            <a:r>
              <a:rPr lang="en" sz="1400"/>
              <a:t>divides the workflow into separate processes, assigns resources to each process and records their inputs, outputs and software versions. If a run is interrupted, completed processes can usually be reused instead of repeating the entire analysis. </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spcBef>
                <a:spcPts val="1200"/>
              </a:spcBef>
              <a:spcAft>
                <a:spcPts val="0"/>
              </a:spcAft>
              <a:buClr>
                <a:schemeClr val="dk1"/>
              </a:buClr>
              <a:buSzPts val="1100"/>
              <a:buFont typeface="Arial"/>
              <a:buNone/>
            </a:pPr>
            <a:r>
              <a:rPr lang="en" sz="1400">
                <a:solidFill>
                  <a:schemeClr val="dk1"/>
                </a:solidFill>
              </a:rPr>
              <a:t>Know each step and what it does</a:t>
            </a:r>
            <a:endParaRPr sz="1400"/>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f6e9da0eb4_0_1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f6e9da0eb4_0_1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STARE and TEPIC have the same general purpose: scan regulatory DNA for known TF motifs, estimate TF-binding affinities using a biophysical model, and produce TF–gene affinity scores. </a:t>
            </a:r>
            <a:endParaRPr sz="1400"/>
          </a:p>
          <a:p>
            <a:pPr indent="0" lvl="0" marL="0" rtl="0" algn="l">
              <a:spcBef>
                <a:spcPts val="0"/>
              </a:spcBef>
              <a:spcAft>
                <a:spcPts val="0"/>
              </a:spcAft>
              <a:buNone/>
            </a:pPr>
            <a:r>
              <a:rPr lang="en" sz="1400"/>
              <a:t>TF-Prioritizer → TEPIC used the smaller footprint regions identified by HINT</a:t>
            </a:r>
            <a:endParaRPr sz="1400"/>
          </a:p>
          <a:p>
            <a:pPr indent="-317500" lvl="0" marL="457200" rtl="0" algn="l">
              <a:spcBef>
                <a:spcPts val="0"/>
              </a:spcBef>
              <a:spcAft>
                <a:spcPts val="0"/>
              </a:spcAft>
              <a:buSzPts val="1400"/>
              <a:buChar char="-"/>
            </a:pPr>
            <a:r>
              <a:rPr lang="en" sz="1400"/>
              <a:t>HINT: Hidden Markov Model → stat model that divides sequential data into states that cannot be observed directly (DNase cut patterns)</a:t>
            </a:r>
            <a:endParaRPr sz="1400"/>
          </a:p>
          <a:p>
            <a:pPr indent="-317500" lvl="0" marL="457200" rtl="0" algn="l">
              <a:spcBef>
                <a:spcPts val="0"/>
              </a:spcBef>
              <a:spcAft>
                <a:spcPts val="0"/>
              </a:spcAft>
              <a:buSzPts val="1400"/>
              <a:buChar char="-"/>
            </a:pPr>
            <a:r>
              <a:rPr lang="en" sz="1400"/>
              <a:t>TEPIC: receives footprint coordinates by HINT and extracts DNA sequence from reference genome </a:t>
            </a:r>
            <a:endParaRPr sz="1400"/>
          </a:p>
          <a:p>
            <a:pPr indent="0" lvl="0" marL="0" rtl="0" algn="l">
              <a:spcBef>
                <a:spcPts val="0"/>
              </a:spcBef>
              <a:spcAft>
                <a:spcPts val="0"/>
              </a:spcAft>
              <a:buNone/>
            </a:pPr>
            <a:r>
              <a:rPr lang="en" sz="1400"/>
              <a:t>nf-core/tfactivity → STARE analyzed processed DNase-seq peaks directly</a:t>
            </a:r>
            <a:endParaRPr sz="1400"/>
          </a:p>
          <a:p>
            <a:pPr indent="-317500" lvl="0" marL="457200" rtl="0" algn="l">
              <a:spcBef>
                <a:spcPts val="0"/>
              </a:spcBef>
              <a:spcAft>
                <a:spcPts val="0"/>
              </a:spcAft>
              <a:buSzPts val="1400"/>
              <a:buChar char="-"/>
            </a:pPr>
            <a:r>
              <a:rPr lang="en" sz="1400"/>
              <a:t>Uses the DNA sequence across that entire peak</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t/>
            </a:r>
            <a:endParaRPr sz="1400"/>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f6e9da0eb4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f6e9da0eb4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p>
          <a:p>
            <a:pPr indent="-317500" lvl="0" marL="457200" rtl="0" algn="l">
              <a:spcBef>
                <a:spcPts val="0"/>
              </a:spcBef>
              <a:spcAft>
                <a:spcPts val="0"/>
              </a:spcAft>
              <a:buSzPts val="1400"/>
              <a:buAutoNum type="arabicPeriod"/>
            </a:pPr>
            <a:r>
              <a:rPr lang="en" sz="1400"/>
              <a:t>Combines all peak files to create a common set of accessible regions.</a:t>
            </a:r>
            <a:endParaRPr sz="1400"/>
          </a:p>
          <a:p>
            <a:pPr indent="-317500" lvl="0" marL="457200" rtl="0" algn="l">
              <a:spcBef>
                <a:spcPts val="0"/>
              </a:spcBef>
              <a:spcAft>
                <a:spcPts val="0"/>
              </a:spcAft>
              <a:buSzPts val="1400"/>
              <a:buAutoNum type="arabicPeriod"/>
            </a:pPr>
            <a:r>
              <a:rPr lang="en" sz="1400"/>
              <a:t>Overlaps these regions with reference-predicted binding sites for each TF.</a:t>
            </a:r>
            <a:endParaRPr sz="1400"/>
          </a:p>
          <a:p>
            <a:pPr indent="-317500" lvl="0" marL="457200" rtl="0" algn="l">
              <a:spcBef>
                <a:spcPts val="0"/>
              </a:spcBef>
              <a:spcAft>
                <a:spcPts val="0"/>
              </a:spcAft>
              <a:buSzPts val="1400"/>
              <a:buAutoNum type="arabicPeriod"/>
            </a:pPr>
            <a:r>
              <a:rPr lang="en" sz="1400"/>
              <a:t>Counts DNase-seq reads and calculates whether each region is more accessible in K562 or MCF7.</a:t>
            </a:r>
            <a:endParaRPr sz="1400"/>
          </a:p>
          <a:p>
            <a:pPr indent="-317500" lvl="0" marL="457200" rtl="0" algn="l">
              <a:spcBef>
                <a:spcPts val="0"/>
              </a:spcBef>
              <a:spcAft>
                <a:spcPts val="0"/>
              </a:spcAft>
              <a:buSzPts val="1400"/>
              <a:buAutoNum type="arabicPeriod"/>
            </a:pPr>
            <a:r>
              <a:rPr lang="en" sz="1400"/>
              <a:t>Groups the accessibility changes from all predicted sites belonging to the same TF.</a:t>
            </a:r>
            <a:endParaRPr sz="1400"/>
          </a:p>
          <a:p>
            <a:pPr indent="-317500" lvl="0" marL="457200" rtl="0" algn="l">
              <a:spcBef>
                <a:spcPts val="0"/>
              </a:spcBef>
              <a:spcAft>
                <a:spcPts val="0"/>
              </a:spcAft>
              <a:buSzPts val="1400"/>
              <a:buAutoNum type="arabicPeriod"/>
            </a:pPr>
            <a:r>
              <a:rPr lang="en" sz="1400"/>
              <a:t>Compares each TF’s changes with background binding sites having similar GC content.</a:t>
            </a:r>
            <a:endParaRPr sz="1400"/>
          </a:p>
          <a:p>
            <a:pPr indent="-317500" lvl="0" marL="457200" rtl="0" algn="l">
              <a:spcBef>
                <a:spcPts val="0"/>
              </a:spcBef>
              <a:spcAft>
                <a:spcPts val="0"/>
              </a:spcAft>
              <a:buSzPts val="1400"/>
              <a:buAutoNum type="arabicPeriod"/>
            </a:pPr>
            <a:r>
              <a:rPr lang="en" sz="1400"/>
              <a:t>Calculates the TF-activity score as the weighted average of the TF-specific change minus the background change.</a:t>
            </a:r>
            <a:endParaRPr sz="1400"/>
          </a:p>
          <a:p>
            <a:pPr indent="-317500" lvl="0" marL="457200" rtl="0" algn="l">
              <a:spcBef>
                <a:spcPts val="0"/>
              </a:spcBef>
              <a:spcAft>
                <a:spcPts val="0"/>
              </a:spcAft>
              <a:buSzPts val="1400"/>
              <a:buAutoNum type="arabicPeriod"/>
            </a:pPr>
            <a:r>
              <a:rPr lang="en" sz="1400"/>
              <a:t>Rearranges the K562 and MCF7 sample labels and repeats the calculation to determine whether the real score could occur by chance.</a:t>
            </a:r>
            <a:endParaRPr sz="1400"/>
          </a:p>
          <a:p>
            <a:pPr indent="-317500" lvl="0" marL="457200" rtl="0" algn="l">
              <a:spcBef>
                <a:spcPts val="0"/>
              </a:spcBef>
              <a:spcAft>
                <a:spcPts val="0"/>
              </a:spcAft>
              <a:buSzPts val="1400"/>
              <a:buAutoNum type="arabicPeriod"/>
            </a:pPr>
            <a:r>
              <a:rPr lang="en" sz="1400"/>
              <a:t>Adjusts the p-values because hundreds of TFs are tested.</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In short: looks across all predicted sites for each TF and asks whether those sites consistently become more </a:t>
            </a:r>
            <a:r>
              <a:rPr lang="en" sz="1400"/>
              <a:t>accessible</a:t>
            </a:r>
            <a:r>
              <a:rPr lang="en" sz="1400"/>
              <a:t> in one cell line than expected from comparable background sites</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400"/>
              <a:t>Unlike the other two RNA-seq was not used in this analysis because I used basic mode</a:t>
            </a:r>
            <a:endParaRPr sz="1400"/>
          </a:p>
          <a:p>
            <a:pPr indent="0" lvl="0" marL="0" rtl="0" algn="l">
              <a:spcBef>
                <a:spcPts val="0"/>
              </a:spcBef>
              <a:spcAft>
                <a:spcPts val="0"/>
              </a:spcAft>
              <a:buNone/>
            </a:pPr>
            <a:r>
              <a:rPr lang="en" sz="1400"/>
              <a:t>Classification mode can use rna-seq to classify TFs as possible activators/repressors/unknown</a:t>
            </a:r>
            <a:endParaRPr sz="1400"/>
          </a:p>
          <a:p>
            <a:pPr indent="0" lvl="0" marL="0" rtl="0" algn="l">
              <a:spcBef>
                <a:spcPts val="0"/>
              </a:spcBef>
              <a:spcAft>
                <a:spcPts val="0"/>
              </a:spcAft>
              <a:buNone/>
            </a:pPr>
            <a:r>
              <a:t/>
            </a:r>
            <a:endParaRPr sz="1400"/>
          </a:p>
          <a:p>
            <a:pPr indent="0" lvl="0" marL="0" rtl="0" algn="l">
              <a:spcBef>
                <a:spcPts val="0"/>
              </a:spcBef>
              <a:spcAft>
                <a:spcPts val="0"/>
              </a:spcAft>
              <a:buClr>
                <a:schemeClr val="dk1"/>
              </a:buClr>
              <a:buSzPts val="1100"/>
              <a:buFont typeface="Arial"/>
              <a:buNone/>
            </a:pPr>
            <a:r>
              <a:rPr lang="en" sz="1400">
                <a:solidFill>
                  <a:schemeClr val="dk1"/>
                </a:solidFill>
              </a:rPr>
              <a:t>Know each step and what it does</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6e9da0eb4_0_1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f6e9da0eb4_0_1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200"/>
              </a:spcBef>
              <a:spcAft>
                <a:spcPts val="0"/>
              </a:spcAft>
              <a:buSzPts val="1400"/>
              <a:buChar char="-"/>
            </a:pPr>
            <a:r>
              <a:rPr lang="en" sz="1400"/>
              <a:t>Data Requirements:</a:t>
            </a:r>
            <a:endParaRPr sz="1400"/>
          </a:p>
          <a:p>
            <a:pPr indent="-317500" lvl="1" marL="914400" rtl="0" algn="l">
              <a:lnSpc>
                <a:spcPct val="115000"/>
              </a:lnSpc>
              <a:spcBef>
                <a:spcPts val="0"/>
              </a:spcBef>
              <a:spcAft>
                <a:spcPts val="0"/>
              </a:spcAft>
              <a:buSzPts val="1400"/>
              <a:buChar char="-"/>
            </a:pPr>
            <a:r>
              <a:rPr lang="en" sz="1400"/>
              <a:t>Prio: ATAC/DNase/ChIP, rna, peak files</a:t>
            </a:r>
            <a:endParaRPr sz="1400"/>
          </a:p>
          <a:p>
            <a:pPr indent="-317500" lvl="1" marL="914400" rtl="0" algn="l">
              <a:lnSpc>
                <a:spcPct val="115000"/>
              </a:lnSpc>
              <a:spcBef>
                <a:spcPts val="0"/>
              </a:spcBef>
              <a:spcAft>
                <a:spcPts val="0"/>
              </a:spcAft>
              <a:buSzPts val="1400"/>
              <a:buChar char="-"/>
            </a:pPr>
            <a:r>
              <a:rPr lang="en" sz="1400"/>
              <a:t>Act: same^</a:t>
            </a:r>
            <a:endParaRPr sz="1400"/>
          </a:p>
          <a:p>
            <a:pPr indent="-317500" lvl="1" marL="914400" rtl="0" algn="l">
              <a:lnSpc>
                <a:spcPct val="115000"/>
              </a:lnSpc>
              <a:spcBef>
                <a:spcPts val="0"/>
              </a:spcBef>
              <a:spcAft>
                <a:spcPts val="0"/>
              </a:spcAft>
              <a:buSzPts val="1400"/>
              <a:buChar char="-"/>
            </a:pPr>
            <a:r>
              <a:rPr lang="en" sz="1400"/>
              <a:t>Diff: atac/dnase, rna, peak files</a:t>
            </a:r>
            <a:endParaRPr sz="1400"/>
          </a:p>
          <a:p>
            <a:pPr indent="-317500" lvl="0" marL="457200" rtl="0" algn="l">
              <a:lnSpc>
                <a:spcPct val="115000"/>
              </a:lnSpc>
              <a:spcBef>
                <a:spcPts val="0"/>
              </a:spcBef>
              <a:spcAft>
                <a:spcPts val="0"/>
              </a:spcAft>
              <a:buSzPts val="1400"/>
              <a:buChar char="-"/>
            </a:pPr>
            <a:r>
              <a:rPr lang="en" sz="1400"/>
              <a:t>Pipeline setup: Sample sheets, configuration files, reference data, software requirements</a:t>
            </a:r>
            <a:endParaRPr sz="1400"/>
          </a:p>
          <a:p>
            <a:pPr indent="-317500" lvl="0" marL="457200" rtl="0" algn="l">
              <a:lnSpc>
                <a:spcPct val="115000"/>
              </a:lnSpc>
              <a:spcBef>
                <a:spcPts val="0"/>
              </a:spcBef>
              <a:spcAft>
                <a:spcPts val="0"/>
              </a:spcAft>
              <a:buSzPts val="1400"/>
              <a:buChar char="-"/>
            </a:pPr>
            <a:r>
              <a:rPr lang="en" sz="1400"/>
              <a:t>Outputs: Converting identifiers into common tf gene names</a:t>
            </a:r>
            <a:endParaRPr sz="1400"/>
          </a:p>
          <a:p>
            <a:pPr indent="-317500" lvl="0" marL="457200" rtl="0" algn="l">
              <a:lnSpc>
                <a:spcPct val="115000"/>
              </a:lnSpc>
              <a:spcBef>
                <a:spcPts val="0"/>
              </a:spcBef>
              <a:spcAft>
                <a:spcPts val="0"/>
              </a:spcAft>
              <a:buSzPts val="1400"/>
              <a:buChar char="-"/>
            </a:pPr>
            <a:r>
              <a:rPr lang="en" sz="1400"/>
              <a:t>Comparison: literature review, runtime, storage, comparing predictions</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f6e9da0eb4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f6e9da0eb4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The Venn Diagram compares the complete final TF lists after TF names were standardized</a:t>
            </a:r>
            <a:endParaRPr sz="1400"/>
          </a:p>
          <a:p>
            <a:pPr indent="0" lvl="0" marL="0" rtl="0" algn="l">
              <a:spcBef>
                <a:spcPts val="0"/>
              </a:spcBef>
              <a:spcAft>
                <a:spcPts val="0"/>
              </a:spcAft>
              <a:buNone/>
            </a:pPr>
            <a:r>
              <a:rPr lang="en" sz="1400"/>
              <a:t>TF-Prioritizer reported 13 TFs, nf-core/tfactivity reported 33 TFs, and diffTF reported 323 significant</a:t>
            </a:r>
            <a:endParaRPr sz="1400"/>
          </a:p>
          <a:p>
            <a:pPr indent="0" lvl="0" marL="0" rtl="0" algn="l">
              <a:spcBef>
                <a:spcPts val="0"/>
              </a:spcBef>
              <a:spcAft>
                <a:spcPts val="0"/>
              </a:spcAft>
              <a:buNone/>
            </a:pPr>
            <a:r>
              <a:rPr lang="en" sz="1400"/>
              <a:t>The difference in list sizes is partly caused by how the pipelines select their final results.</a:t>
            </a:r>
            <a:endParaRPr sz="1400"/>
          </a:p>
          <a:p>
            <a:pPr indent="0" lvl="0" marL="0" rtl="0" algn="l">
              <a:spcBef>
                <a:spcPts val="0"/>
              </a:spcBef>
              <a:spcAft>
                <a:spcPts val="0"/>
              </a:spcAft>
              <a:buNone/>
            </a:pPr>
            <a:r>
              <a:rPr lang="en" sz="1400"/>
              <a:t>RUNX1 and ESR1 were included as additional examples that weren’t found</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f6e9da0eb4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f6e9da0eb4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nf-core/tfactivity had the shortest successful runtime and used the least storage. Nextflow also tracked completed processes, allowing interrupted runs to resume without repeating every step.</a:t>
            </a:r>
            <a:endParaRPr sz="1400"/>
          </a:p>
          <a:p>
            <a:pPr indent="0" lvl="0" marL="0" rtl="0" algn="l">
              <a:spcBef>
                <a:spcPts val="0"/>
              </a:spcBef>
              <a:spcAft>
                <a:spcPts val="0"/>
              </a:spcAft>
              <a:buNone/>
            </a:pPr>
            <a:r>
              <a:rPr lang="en" sz="1400"/>
              <a:t>TF-Prioritizer required a Singularity container because of its older software requirements and produced the largest output directory. However, its interactive report made the final results easier to explore.</a:t>
            </a:r>
            <a:endParaRPr sz="1400"/>
          </a:p>
          <a:p>
            <a:pPr indent="0" lvl="0" marL="0" rtl="0" algn="l">
              <a:spcBef>
                <a:spcPts val="0"/>
              </a:spcBef>
              <a:spcAft>
                <a:spcPts val="0"/>
              </a:spcAft>
              <a:buNone/>
            </a:pPr>
            <a:r>
              <a:rPr lang="en" sz="1400"/>
              <a:t>diffTF took the longest because it evaluated hundreds of TF motifs across many permutations. Its first major run reached the 48-hour job limit, but Snakemake preserved completed results and allowed the workflow to resume. Its tables and PDF plots also required more manual interpretation.</a:t>
            </a:r>
            <a:endParaRPr sz="1400"/>
          </a:p>
          <a:p>
            <a:pPr indent="0" lvl="0" marL="0" rtl="0" algn="l">
              <a:spcBef>
                <a:spcPts val="0"/>
              </a:spcBef>
              <a:spcAft>
                <a:spcPts val="0"/>
              </a:spcAft>
              <a:buNone/>
            </a:pPr>
            <a:r>
              <a:rPr lang="en" sz="1400"/>
              <a:t>Overall, nf-core/tfactivity was the fastest and most storage-efficient pipeline. It also provided strong restart support and an interactive report, making it the most practical workflow in this comparison.</a:t>
            </a: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76e8c2dae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f76e8c2dae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Although the three pipelines addressed the same biological comparison, they produced substantially different final TF lists.</a:t>
            </a:r>
            <a:endParaRPr sz="1400"/>
          </a:p>
          <a:p>
            <a:pPr indent="-317500" lvl="0" marL="457200" rtl="0" algn="l">
              <a:spcBef>
                <a:spcPts val="0"/>
              </a:spcBef>
              <a:spcAft>
                <a:spcPts val="0"/>
              </a:spcAft>
              <a:buSzPts val="1400"/>
              <a:buChar char="-"/>
            </a:pPr>
            <a:r>
              <a:rPr lang="en" sz="1400"/>
              <a:t>They evaluate different regulatory signals and apply different final filters. </a:t>
            </a:r>
            <a:endParaRPr sz="1400"/>
          </a:p>
          <a:p>
            <a:pPr indent="-317500" lvl="0" marL="457200" rtl="0" algn="l">
              <a:spcBef>
                <a:spcPts val="0"/>
              </a:spcBef>
              <a:spcAft>
                <a:spcPts val="0"/>
              </a:spcAft>
              <a:buSzPts val="1400"/>
              <a:buChar char="-"/>
            </a:pPr>
            <a:r>
              <a:rPr lang="en" sz="1400"/>
              <a:t>TF-Prioritizer and nf-core/tfactivity integrate chromatin accessibility with gene expression, but they define and score regulatory regions differently.</a:t>
            </a:r>
            <a:endParaRPr sz="1400"/>
          </a:p>
          <a:p>
            <a:pPr indent="-317500" lvl="0" marL="457200" rtl="0" algn="l">
              <a:spcBef>
                <a:spcPts val="0"/>
              </a:spcBef>
              <a:spcAft>
                <a:spcPts val="0"/>
              </a:spcAft>
              <a:buSzPts val="1400"/>
              <a:buChar char="-"/>
            </a:pPr>
            <a:r>
              <a:rPr lang="en" sz="1400"/>
              <a:t>diffTF instead tests accessibility changes around predicted TF-binding sites and produces a much larger significant TF list.</a:t>
            </a: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f75ba066c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f75ba066c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Input formats were different for each, and different reference data formats, different config files</a:t>
            </a:r>
            <a:endParaRPr sz="1500"/>
          </a:p>
          <a:p>
            <a:pPr indent="-323850" lvl="0" marL="457200" rtl="0" algn="l">
              <a:spcBef>
                <a:spcPts val="0"/>
              </a:spcBef>
              <a:spcAft>
                <a:spcPts val="0"/>
              </a:spcAft>
              <a:buSzPts val="1500"/>
              <a:buChar char="-"/>
            </a:pPr>
            <a:r>
              <a:rPr lang="en" sz="1500"/>
              <a:t>Tf-prioritizer had older software </a:t>
            </a:r>
            <a:r>
              <a:rPr lang="en" sz="1500"/>
              <a:t>dependencies and was run in a singularity container</a:t>
            </a:r>
            <a:endParaRPr sz="1500"/>
          </a:p>
          <a:p>
            <a:pPr indent="-323850" lvl="0" marL="457200" rtl="0" algn="l">
              <a:spcBef>
                <a:spcPts val="0"/>
              </a:spcBef>
              <a:spcAft>
                <a:spcPts val="0"/>
              </a:spcAft>
              <a:buSzPts val="1500"/>
              <a:buChar char="-"/>
            </a:pPr>
            <a:r>
              <a:rPr lang="en" sz="1500"/>
              <a:t>DiffTF required a separate conda environment for snakemake, r, other packages</a:t>
            </a:r>
            <a:endParaRPr sz="1500"/>
          </a:p>
          <a:p>
            <a:pPr indent="-323850" lvl="0" marL="457200" rtl="0" algn="l">
              <a:spcBef>
                <a:spcPts val="0"/>
              </a:spcBef>
              <a:spcAft>
                <a:spcPts val="0"/>
              </a:spcAft>
              <a:buSzPts val="1500"/>
              <a:buChar char="-"/>
            </a:pPr>
            <a:r>
              <a:rPr lang="en" sz="1500"/>
              <a:t>One K562 BAM had an inconsistent read layout because it contained records marked as both paired-end and single-end so it had to be converted to only have single-end data</a:t>
            </a:r>
            <a:endParaRPr sz="1500"/>
          </a:p>
          <a:p>
            <a:pPr indent="-323850" lvl="0" marL="457200" rtl="0" algn="l">
              <a:spcBef>
                <a:spcPts val="0"/>
              </a:spcBef>
              <a:spcAft>
                <a:spcPts val="0"/>
              </a:spcAft>
              <a:buSzPts val="1500"/>
              <a:buChar char="-"/>
            </a:pPr>
            <a:r>
              <a:rPr lang="en" sz="1500"/>
              <a:t>Expanse server was down for a period of time</a:t>
            </a:r>
            <a:endParaRPr sz="1500"/>
          </a:p>
          <a:p>
            <a:pPr indent="-323850" lvl="0" marL="457200" rtl="0" algn="l">
              <a:spcBef>
                <a:spcPts val="0"/>
              </a:spcBef>
              <a:spcAft>
                <a:spcPts val="0"/>
              </a:spcAft>
              <a:buSzPts val="1500"/>
              <a:buChar char="-"/>
            </a:pPr>
            <a:r>
              <a:rPr lang="en" sz="1500"/>
              <a:t>diffTF reached the time limit and had to be resumed with more parallel processing to speed things up</a:t>
            </a:r>
            <a:endParaRPr sz="15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f6e9da0eb4_0_1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f6e9da0eb4_0_1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benchmark was limited to DNase-seq data from K562 and MCF7 cells. </a:t>
            </a:r>
            <a:endParaRPr sz="1400"/>
          </a:p>
          <a:p>
            <a:pPr indent="0" lvl="0" marL="0" rtl="0" algn="l">
              <a:spcBef>
                <a:spcPts val="0"/>
              </a:spcBef>
              <a:spcAft>
                <a:spcPts val="0"/>
              </a:spcAft>
              <a:buNone/>
            </a:pPr>
            <a:r>
              <a:rPr lang="en" sz="1400"/>
              <a:t>Testing the pipelines under more closely matched settings could help identify whether disagreement is caused by regulatory-region selection, gene linking, TF activity calculations, or final filtering.</a:t>
            </a: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f6e9da0eb4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f6e9da0eb4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77" name="Shape 277"/>
        <p:cNvGrpSpPr/>
        <p:nvPr/>
      </p:nvGrpSpPr>
      <p:grpSpPr>
        <a:xfrm>
          <a:off x="0" y="0"/>
          <a:ext cx="0" cy="0"/>
          <a:chOff x="0" y="0"/>
          <a:chExt cx="0" cy="0"/>
        </a:xfrm>
      </p:grpSpPr>
      <p:sp>
        <p:nvSpPr>
          <p:cNvPr id="278" name="Google Shape;278;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79" name="Google Shape;279;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80" name="Google Shape;28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81" name="Shape 281"/>
        <p:cNvGrpSpPr/>
        <p:nvPr/>
      </p:nvGrpSpPr>
      <p:grpSpPr>
        <a:xfrm>
          <a:off x="0" y="0"/>
          <a:ext cx="0" cy="0"/>
          <a:chOff x="0" y="0"/>
          <a:chExt cx="0" cy="0"/>
        </a:xfrm>
      </p:grpSpPr>
      <p:sp>
        <p:nvSpPr>
          <p:cNvPr id="282" name="Google Shape;282;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3" name="Google Shape;28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284" name="Shape 284"/>
        <p:cNvGrpSpPr/>
        <p:nvPr/>
      </p:nvGrpSpPr>
      <p:grpSpPr>
        <a:xfrm>
          <a:off x="0" y="0"/>
          <a:ext cx="0" cy="0"/>
          <a:chOff x="0" y="0"/>
          <a:chExt cx="0" cy="0"/>
        </a:xfrm>
      </p:grpSpPr>
      <p:sp>
        <p:nvSpPr>
          <p:cNvPr id="285" name="Google Shape;285;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86" name="Google Shape;28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287" name="Google Shape;28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88" name="Shape 288"/>
        <p:cNvGrpSpPr/>
        <p:nvPr/>
      </p:nvGrpSpPr>
      <p:grpSpPr>
        <a:xfrm>
          <a:off x="0" y="0"/>
          <a:ext cx="0" cy="0"/>
          <a:chOff x="0" y="0"/>
          <a:chExt cx="0" cy="0"/>
        </a:xfrm>
      </p:grpSpPr>
      <p:sp>
        <p:nvSpPr>
          <p:cNvPr id="289" name="Google Shape;289;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90" name="Google Shape;290;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1" name="Google Shape;291;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2" name="Google Shape;29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93" name="Shape 293"/>
        <p:cNvGrpSpPr/>
        <p:nvPr/>
      </p:nvGrpSpPr>
      <p:grpSpPr>
        <a:xfrm>
          <a:off x="0" y="0"/>
          <a:ext cx="0" cy="0"/>
          <a:chOff x="0" y="0"/>
          <a:chExt cx="0" cy="0"/>
        </a:xfrm>
      </p:grpSpPr>
      <p:sp>
        <p:nvSpPr>
          <p:cNvPr id="294" name="Google Shape;294;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295" name="Google Shape;295;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96" name="Shape 296"/>
        <p:cNvGrpSpPr/>
        <p:nvPr/>
      </p:nvGrpSpPr>
      <p:grpSpPr>
        <a:xfrm>
          <a:off x="0" y="0"/>
          <a:ext cx="0" cy="0"/>
          <a:chOff x="0" y="0"/>
          <a:chExt cx="0" cy="0"/>
        </a:xfrm>
      </p:grpSpPr>
      <p:sp>
        <p:nvSpPr>
          <p:cNvPr id="297" name="Google Shape;297;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8" name="Google Shape;298;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9" name="Google Shape;299;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00" name="Shape 300"/>
        <p:cNvGrpSpPr/>
        <p:nvPr/>
      </p:nvGrpSpPr>
      <p:grpSpPr>
        <a:xfrm>
          <a:off x="0" y="0"/>
          <a:ext cx="0" cy="0"/>
          <a:chOff x="0" y="0"/>
          <a:chExt cx="0" cy="0"/>
        </a:xfrm>
      </p:grpSpPr>
      <p:sp>
        <p:nvSpPr>
          <p:cNvPr id="301" name="Google Shape;301;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2" name="Google Shape;302;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03" name="Shape 303"/>
        <p:cNvGrpSpPr/>
        <p:nvPr/>
      </p:nvGrpSpPr>
      <p:grpSpPr>
        <a:xfrm>
          <a:off x="0" y="0"/>
          <a:ext cx="0" cy="0"/>
          <a:chOff x="0" y="0"/>
          <a:chExt cx="0" cy="0"/>
        </a:xfrm>
      </p:grpSpPr>
      <p:sp>
        <p:nvSpPr>
          <p:cNvPr id="304" name="Google Shape;304;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6" name="Google Shape;306;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07" name="Google Shape;307;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08" name="Google Shape;30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09" name="Shape 309"/>
        <p:cNvGrpSpPr/>
        <p:nvPr/>
      </p:nvGrpSpPr>
      <p:grpSpPr>
        <a:xfrm>
          <a:off x="0" y="0"/>
          <a:ext cx="0" cy="0"/>
          <a:chOff x="0" y="0"/>
          <a:chExt cx="0" cy="0"/>
        </a:xfrm>
      </p:grpSpPr>
      <p:sp>
        <p:nvSpPr>
          <p:cNvPr id="310" name="Google Shape;310;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311" name="Google Shape;31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12" name="Shape 312"/>
        <p:cNvGrpSpPr/>
        <p:nvPr/>
      </p:nvGrpSpPr>
      <p:grpSpPr>
        <a:xfrm>
          <a:off x="0" y="0"/>
          <a:ext cx="0" cy="0"/>
          <a:chOff x="0" y="0"/>
          <a:chExt cx="0" cy="0"/>
        </a:xfrm>
      </p:grpSpPr>
      <p:sp>
        <p:nvSpPr>
          <p:cNvPr id="313" name="Google Shape;313;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4" name="Google Shape;314;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315" name="Google Shape;315;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6" name="Shape 316"/>
        <p:cNvGrpSpPr/>
        <p:nvPr/>
      </p:nvGrpSpPr>
      <p:grpSpPr>
        <a:xfrm>
          <a:off x="0" y="0"/>
          <a:ext cx="0" cy="0"/>
          <a:chOff x="0" y="0"/>
          <a:chExt cx="0" cy="0"/>
        </a:xfrm>
      </p:grpSpPr>
      <p:sp>
        <p:nvSpPr>
          <p:cNvPr id="317" name="Google Shape;31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18" name="Shape 318"/>
        <p:cNvGrpSpPr/>
        <p:nvPr/>
      </p:nvGrpSpPr>
      <p:grpSpPr>
        <a:xfrm>
          <a:off x="0" y="0"/>
          <a:ext cx="0" cy="0"/>
          <a:chOff x="0" y="0"/>
          <a:chExt cx="0" cy="0"/>
        </a:xfrm>
      </p:grpSpPr>
      <p:sp>
        <p:nvSpPr>
          <p:cNvPr id="319" name="Google Shape;319;p25"/>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20" name="Google Shape;32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1" name="Google Shape;321;p2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2" name="Google Shape;322;p2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3" name="Google Shape;323;p2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4" name="Google Shape;324;p2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5" name="Google Shape;325;p2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26" name="Google Shape;326;p2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29" name="Google Shape;329;p26"/>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0" name="Google Shape;330;p26"/>
          <p:cNvSpPr/>
          <p:nvPr>
            <p:ph idx="2" type="pic"/>
          </p:nvPr>
        </p:nvSpPr>
        <p:spPr>
          <a:xfrm>
            <a:off x="4992024" y="1152775"/>
            <a:ext cx="3840300" cy="3416400"/>
          </a:xfrm>
          <a:prstGeom prst="rect">
            <a:avLst/>
          </a:prstGeom>
          <a:noFill/>
          <a:ln>
            <a:noFill/>
          </a:ln>
        </p:spPr>
      </p:sp>
      <p:sp>
        <p:nvSpPr>
          <p:cNvPr id="331" name="Google Shape;331;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332" name="Shape 332"/>
        <p:cNvGrpSpPr/>
        <p:nvPr/>
      </p:nvGrpSpPr>
      <p:grpSpPr>
        <a:xfrm>
          <a:off x="0" y="0"/>
          <a:ext cx="0" cy="0"/>
          <a:chOff x="0" y="0"/>
          <a:chExt cx="0" cy="0"/>
        </a:xfrm>
      </p:grpSpPr>
      <p:sp>
        <p:nvSpPr>
          <p:cNvPr id="333" name="Google Shape;33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4" name="Google Shape;334;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5" name="Google Shape;335;p27"/>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6" name="Google Shape;336;p27"/>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37" name="Google Shape;337;p2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38" name="Google Shape;338;p2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39" name="Shape 339"/>
        <p:cNvGrpSpPr/>
        <p:nvPr/>
      </p:nvGrpSpPr>
      <p:grpSpPr>
        <a:xfrm>
          <a:off x="0" y="0"/>
          <a:ext cx="0" cy="0"/>
          <a:chOff x="0" y="0"/>
          <a:chExt cx="0" cy="0"/>
        </a:xfrm>
      </p:grpSpPr>
      <p:sp>
        <p:nvSpPr>
          <p:cNvPr id="340" name="Google Shape;34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1" name="Google Shape;341;p28"/>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2" name="Google Shape;342;p28"/>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3" name="Google Shape;343;p28"/>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44" name="Google Shape;344;p28"/>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5" name="Google Shape;345;p28"/>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46" name="Google Shape;346;p28"/>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47" name="Google Shape;347;p28"/>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348" name="Shape 348"/>
        <p:cNvGrpSpPr/>
        <p:nvPr/>
      </p:nvGrpSpPr>
      <p:grpSpPr>
        <a:xfrm>
          <a:off x="0" y="0"/>
          <a:ext cx="0" cy="0"/>
          <a:chOff x="0" y="0"/>
          <a:chExt cx="0" cy="0"/>
        </a:xfrm>
      </p:grpSpPr>
      <p:sp>
        <p:nvSpPr>
          <p:cNvPr id="349" name="Google Shape;34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50" name="Google Shape;350;p29"/>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1" name="Google Shape;351;p29"/>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2" name="Google Shape;352;p29"/>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3" name="Google Shape;353;p29"/>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354" name="Google Shape;354;p29"/>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5" name="Google Shape;355;p2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56" name="Google Shape;356;p2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57" name="Google Shape;357;p2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58" name="Google Shape;358;p2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59" name="Shape 359"/>
        <p:cNvGrpSpPr/>
        <p:nvPr/>
      </p:nvGrpSpPr>
      <p:grpSpPr>
        <a:xfrm>
          <a:off x="0" y="0"/>
          <a:ext cx="0" cy="0"/>
          <a:chOff x="0" y="0"/>
          <a:chExt cx="0" cy="0"/>
        </a:xfrm>
      </p:grpSpPr>
      <p:sp>
        <p:nvSpPr>
          <p:cNvPr id="360" name="Google Shape;360;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61" name="Google Shape;361;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2" name="Google Shape;362;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363" name="Shape 363"/>
        <p:cNvGrpSpPr/>
        <p:nvPr/>
      </p:nvGrpSpPr>
      <p:grpSpPr>
        <a:xfrm>
          <a:off x="0" y="0"/>
          <a:ext cx="0" cy="0"/>
          <a:chOff x="0" y="0"/>
          <a:chExt cx="0" cy="0"/>
        </a:xfrm>
      </p:grpSpPr>
      <p:sp>
        <p:nvSpPr>
          <p:cNvPr id="364" name="Google Shape;364;p31"/>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5" name="Google Shape;365;p31"/>
          <p:cNvSpPr/>
          <p:nvPr>
            <p:ph idx="2" type="pic"/>
          </p:nvPr>
        </p:nvSpPr>
        <p:spPr>
          <a:xfrm>
            <a:off x="4804825" y="1133300"/>
            <a:ext cx="4027500" cy="2392800"/>
          </a:xfrm>
          <a:prstGeom prst="rect">
            <a:avLst/>
          </a:prstGeom>
          <a:noFill/>
          <a:ln>
            <a:noFill/>
          </a:ln>
        </p:spPr>
      </p:sp>
      <p:sp>
        <p:nvSpPr>
          <p:cNvPr id="366" name="Google Shape;366;p31"/>
          <p:cNvSpPr/>
          <p:nvPr>
            <p:ph idx="3" type="pic"/>
          </p:nvPr>
        </p:nvSpPr>
        <p:spPr>
          <a:xfrm>
            <a:off x="311725" y="1133300"/>
            <a:ext cx="4027500" cy="2392800"/>
          </a:xfrm>
          <a:prstGeom prst="rect">
            <a:avLst/>
          </a:prstGeom>
          <a:noFill/>
          <a:ln>
            <a:noFill/>
          </a:ln>
        </p:spPr>
      </p:sp>
      <p:sp>
        <p:nvSpPr>
          <p:cNvPr id="367" name="Google Shape;367;p31"/>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8" name="Google Shape;36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70" name="Google Shape;370;p3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71" name="Google Shape;371;p3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372" name="Shape 372"/>
        <p:cNvGrpSpPr/>
        <p:nvPr/>
      </p:nvGrpSpPr>
      <p:grpSpPr>
        <a:xfrm>
          <a:off x="0" y="0"/>
          <a:ext cx="0" cy="0"/>
          <a:chOff x="0" y="0"/>
          <a:chExt cx="0" cy="0"/>
        </a:xfrm>
      </p:grpSpPr>
      <p:sp>
        <p:nvSpPr>
          <p:cNvPr id="373" name="Google Shape;373;p32"/>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4" name="Google Shape;374;p32"/>
          <p:cNvSpPr/>
          <p:nvPr>
            <p:ph idx="2" type="pic"/>
          </p:nvPr>
        </p:nvSpPr>
        <p:spPr>
          <a:xfrm>
            <a:off x="6205225" y="1128325"/>
            <a:ext cx="2627100" cy="2273100"/>
          </a:xfrm>
          <a:prstGeom prst="rect">
            <a:avLst/>
          </a:prstGeom>
          <a:noFill/>
          <a:ln>
            <a:noFill/>
          </a:ln>
        </p:spPr>
      </p:sp>
      <p:sp>
        <p:nvSpPr>
          <p:cNvPr id="375" name="Google Shape;375;p32"/>
          <p:cNvSpPr/>
          <p:nvPr>
            <p:ph idx="3" type="pic"/>
          </p:nvPr>
        </p:nvSpPr>
        <p:spPr>
          <a:xfrm>
            <a:off x="311725" y="1128325"/>
            <a:ext cx="2627100" cy="2273100"/>
          </a:xfrm>
          <a:prstGeom prst="rect">
            <a:avLst/>
          </a:prstGeom>
          <a:noFill/>
          <a:ln>
            <a:noFill/>
          </a:ln>
        </p:spPr>
      </p:sp>
      <p:sp>
        <p:nvSpPr>
          <p:cNvPr id="376" name="Google Shape;376;p32"/>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7" name="Google Shape;377;p32"/>
          <p:cNvSpPr/>
          <p:nvPr>
            <p:ph idx="5" type="pic"/>
          </p:nvPr>
        </p:nvSpPr>
        <p:spPr>
          <a:xfrm>
            <a:off x="3255250" y="1128325"/>
            <a:ext cx="2627100" cy="2273100"/>
          </a:xfrm>
          <a:prstGeom prst="rect">
            <a:avLst/>
          </a:prstGeom>
          <a:noFill/>
          <a:ln>
            <a:noFill/>
          </a:ln>
        </p:spPr>
      </p:sp>
      <p:sp>
        <p:nvSpPr>
          <p:cNvPr id="378" name="Google Shape;378;p32"/>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9" name="Google Shape;379;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81" name="Google Shape;381;p3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82" name="Google Shape;382;p3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383" name="Google Shape;383;p3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384" name="Shape 384"/>
        <p:cNvGrpSpPr/>
        <p:nvPr/>
      </p:nvGrpSpPr>
      <p:grpSpPr>
        <a:xfrm>
          <a:off x="0" y="0"/>
          <a:ext cx="0" cy="0"/>
          <a:chOff x="0" y="0"/>
          <a:chExt cx="0" cy="0"/>
        </a:xfrm>
      </p:grpSpPr>
      <p:sp>
        <p:nvSpPr>
          <p:cNvPr id="385" name="Google Shape;385;p33"/>
          <p:cNvSpPr/>
          <p:nvPr>
            <p:ph idx="2" type="pic"/>
          </p:nvPr>
        </p:nvSpPr>
        <p:spPr>
          <a:xfrm>
            <a:off x="311700" y="445025"/>
            <a:ext cx="8520600" cy="4218300"/>
          </a:xfrm>
          <a:prstGeom prst="rect">
            <a:avLst/>
          </a:prstGeom>
          <a:noFill/>
          <a:ln>
            <a:noFill/>
          </a:ln>
        </p:spPr>
      </p:sp>
      <p:sp>
        <p:nvSpPr>
          <p:cNvPr id="386" name="Google Shape;38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87" name="Shape 387"/>
        <p:cNvGrpSpPr/>
        <p:nvPr/>
      </p:nvGrpSpPr>
      <p:grpSpPr>
        <a:xfrm>
          <a:off x="0" y="0"/>
          <a:ext cx="0" cy="0"/>
          <a:chOff x="0" y="0"/>
          <a:chExt cx="0" cy="0"/>
        </a:xfrm>
      </p:grpSpPr>
      <p:sp>
        <p:nvSpPr>
          <p:cNvPr id="388" name="Google Shape;38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34"/>
          <p:cNvSpPr/>
          <p:nvPr>
            <p:ph idx="2" type="pic"/>
          </p:nvPr>
        </p:nvSpPr>
        <p:spPr>
          <a:xfrm>
            <a:off x="3389600" y="118913"/>
            <a:ext cx="1643700" cy="1535100"/>
          </a:xfrm>
          <a:prstGeom prst="rect">
            <a:avLst/>
          </a:prstGeom>
          <a:noFill/>
          <a:ln>
            <a:noFill/>
          </a:ln>
        </p:spPr>
      </p:sp>
      <p:sp>
        <p:nvSpPr>
          <p:cNvPr id="390" name="Google Shape;390;p34"/>
          <p:cNvSpPr/>
          <p:nvPr>
            <p:ph idx="3" type="pic"/>
          </p:nvPr>
        </p:nvSpPr>
        <p:spPr>
          <a:xfrm>
            <a:off x="5195935" y="118913"/>
            <a:ext cx="1643700" cy="1535100"/>
          </a:xfrm>
          <a:prstGeom prst="rect">
            <a:avLst/>
          </a:prstGeom>
          <a:noFill/>
          <a:ln>
            <a:noFill/>
          </a:ln>
        </p:spPr>
      </p:sp>
      <p:sp>
        <p:nvSpPr>
          <p:cNvPr id="391" name="Google Shape;391;p34"/>
          <p:cNvSpPr/>
          <p:nvPr>
            <p:ph idx="4" type="pic"/>
          </p:nvPr>
        </p:nvSpPr>
        <p:spPr>
          <a:xfrm>
            <a:off x="7002270" y="118913"/>
            <a:ext cx="1643700" cy="1535100"/>
          </a:xfrm>
          <a:prstGeom prst="rect">
            <a:avLst/>
          </a:prstGeom>
          <a:noFill/>
          <a:ln>
            <a:noFill/>
          </a:ln>
        </p:spPr>
      </p:sp>
      <p:sp>
        <p:nvSpPr>
          <p:cNvPr id="392" name="Google Shape;392;p34"/>
          <p:cNvSpPr/>
          <p:nvPr>
            <p:ph idx="5" type="pic"/>
          </p:nvPr>
        </p:nvSpPr>
        <p:spPr>
          <a:xfrm>
            <a:off x="3389588" y="1804212"/>
            <a:ext cx="1643700" cy="1535100"/>
          </a:xfrm>
          <a:prstGeom prst="rect">
            <a:avLst/>
          </a:prstGeom>
          <a:noFill/>
          <a:ln>
            <a:noFill/>
          </a:ln>
        </p:spPr>
      </p:sp>
      <p:sp>
        <p:nvSpPr>
          <p:cNvPr id="393" name="Google Shape;393;p34"/>
          <p:cNvSpPr/>
          <p:nvPr>
            <p:ph idx="6" type="pic"/>
          </p:nvPr>
        </p:nvSpPr>
        <p:spPr>
          <a:xfrm>
            <a:off x="5195922" y="1804212"/>
            <a:ext cx="1643700" cy="1535100"/>
          </a:xfrm>
          <a:prstGeom prst="rect">
            <a:avLst/>
          </a:prstGeom>
          <a:noFill/>
          <a:ln>
            <a:noFill/>
          </a:ln>
        </p:spPr>
      </p:sp>
      <p:sp>
        <p:nvSpPr>
          <p:cNvPr id="394" name="Google Shape;394;p34"/>
          <p:cNvSpPr/>
          <p:nvPr>
            <p:ph idx="7" type="pic"/>
          </p:nvPr>
        </p:nvSpPr>
        <p:spPr>
          <a:xfrm>
            <a:off x="7002257" y="1804212"/>
            <a:ext cx="1643700" cy="1535100"/>
          </a:xfrm>
          <a:prstGeom prst="rect">
            <a:avLst/>
          </a:prstGeom>
          <a:noFill/>
          <a:ln>
            <a:noFill/>
          </a:ln>
        </p:spPr>
      </p:sp>
      <p:sp>
        <p:nvSpPr>
          <p:cNvPr id="395" name="Google Shape;395;p3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396" name="Google Shape;396;p34"/>
          <p:cNvSpPr/>
          <p:nvPr>
            <p:ph idx="8" type="pic"/>
          </p:nvPr>
        </p:nvSpPr>
        <p:spPr>
          <a:xfrm>
            <a:off x="3389588" y="3489487"/>
            <a:ext cx="1643700" cy="1535100"/>
          </a:xfrm>
          <a:prstGeom prst="rect">
            <a:avLst/>
          </a:prstGeom>
          <a:noFill/>
          <a:ln>
            <a:noFill/>
          </a:ln>
        </p:spPr>
      </p:sp>
      <p:sp>
        <p:nvSpPr>
          <p:cNvPr id="397" name="Google Shape;397;p34"/>
          <p:cNvSpPr/>
          <p:nvPr>
            <p:ph idx="9" type="pic"/>
          </p:nvPr>
        </p:nvSpPr>
        <p:spPr>
          <a:xfrm>
            <a:off x="5195922" y="3489487"/>
            <a:ext cx="1643700" cy="1535100"/>
          </a:xfrm>
          <a:prstGeom prst="rect">
            <a:avLst/>
          </a:prstGeom>
          <a:noFill/>
          <a:ln>
            <a:noFill/>
          </a:ln>
        </p:spPr>
      </p:sp>
      <p:sp>
        <p:nvSpPr>
          <p:cNvPr id="398" name="Google Shape;398;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399" name="Shape 399"/>
        <p:cNvGrpSpPr/>
        <p:nvPr/>
      </p:nvGrpSpPr>
      <p:grpSpPr>
        <a:xfrm>
          <a:off x="0" y="0"/>
          <a:ext cx="0" cy="0"/>
          <a:chOff x="0" y="0"/>
          <a:chExt cx="0" cy="0"/>
        </a:xfrm>
      </p:grpSpPr>
      <p:sp>
        <p:nvSpPr>
          <p:cNvPr id="400" name="Google Shape;400;p35"/>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401" name="Google Shape;401;p35"/>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402" name="Google Shape;402;p35"/>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403" name="Google Shape;403;p35"/>
          <p:cNvSpPr/>
          <p:nvPr>
            <p:ph idx="3" type="pic"/>
          </p:nvPr>
        </p:nvSpPr>
        <p:spPr>
          <a:xfrm>
            <a:off x="4437578" y="2171250"/>
            <a:ext cx="4509600" cy="2775600"/>
          </a:xfrm>
          <a:prstGeom prst="round2DiagRect">
            <a:avLst>
              <a:gd fmla="val 16667" name="adj1"/>
              <a:gd fmla="val 0" name="adj2"/>
            </a:avLst>
          </a:prstGeom>
          <a:noFill/>
          <a:ln>
            <a:noFill/>
          </a:ln>
        </p:spPr>
      </p:sp>
      <p:sp>
        <p:nvSpPr>
          <p:cNvPr id="404" name="Google Shape;404;p3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405" name="Shape 405"/>
        <p:cNvGrpSpPr/>
        <p:nvPr/>
      </p:nvGrpSpPr>
      <p:grpSpPr>
        <a:xfrm>
          <a:off x="0" y="0"/>
          <a:ext cx="0" cy="0"/>
          <a:chOff x="0" y="0"/>
          <a:chExt cx="0" cy="0"/>
        </a:xfrm>
      </p:grpSpPr>
      <p:sp>
        <p:nvSpPr>
          <p:cNvPr id="406" name="Google Shape;406;p36"/>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07" name="Google Shape;40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8" name="Google Shape;408;p36"/>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09" name="Google Shape;409;p36"/>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0" name="Google Shape;410;p36"/>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1" name="Google Shape;411;p36"/>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12" name="Google Shape;412;p36"/>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413" name="Google Shape;413;p36"/>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414" name="Shape 414"/>
        <p:cNvGrpSpPr/>
        <p:nvPr/>
      </p:nvGrpSpPr>
      <p:grpSpPr>
        <a:xfrm>
          <a:off x="0" y="0"/>
          <a:ext cx="0" cy="0"/>
          <a:chOff x="0" y="0"/>
          <a:chExt cx="0" cy="0"/>
        </a:xfrm>
      </p:grpSpPr>
      <p:sp>
        <p:nvSpPr>
          <p:cNvPr id="415" name="Google Shape;41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6" name="Google Shape;416;p37"/>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417" name="Google Shape;417;p37"/>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418" name="Google Shape;418;p37"/>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419" name="Shape 419"/>
        <p:cNvGrpSpPr/>
        <p:nvPr/>
      </p:nvGrpSpPr>
      <p:grpSpPr>
        <a:xfrm>
          <a:off x="0" y="0"/>
          <a:ext cx="0" cy="0"/>
          <a:chOff x="0" y="0"/>
          <a:chExt cx="0" cy="0"/>
        </a:xfrm>
      </p:grpSpPr>
      <p:sp>
        <p:nvSpPr>
          <p:cNvPr id="420" name="Google Shape;420;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21" name="Google Shape;421;p38"/>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422" name="Google Shape;422;p38"/>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423" name="Google Shape;423;p38"/>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424" name="Shape 424"/>
        <p:cNvGrpSpPr/>
        <p:nvPr/>
      </p:nvGrpSpPr>
      <p:grpSpPr>
        <a:xfrm>
          <a:off x="0" y="0"/>
          <a:ext cx="0" cy="0"/>
          <a:chOff x="0" y="0"/>
          <a:chExt cx="0" cy="0"/>
        </a:xfrm>
      </p:grpSpPr>
      <p:sp>
        <p:nvSpPr>
          <p:cNvPr id="425" name="Google Shape;425;p3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26" name="Google Shape;426;p3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427" name="Google Shape;42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28" name="Google Shape;428;p39"/>
          <p:cNvSpPr/>
          <p:nvPr>
            <p:ph idx="2" type="pic"/>
          </p:nvPr>
        </p:nvSpPr>
        <p:spPr>
          <a:xfrm>
            <a:off x="3726325" y="669925"/>
            <a:ext cx="5220900" cy="4276800"/>
          </a:xfrm>
          <a:prstGeom prst="round2DiagRect">
            <a:avLst>
              <a:gd fmla="val 16667" name="adj1"/>
              <a:gd fmla="val 0" name="adj2"/>
            </a:avLst>
          </a:prstGeom>
          <a:noFill/>
          <a:ln>
            <a:noFill/>
          </a:ln>
        </p:spPr>
      </p:sp>
      <p:sp>
        <p:nvSpPr>
          <p:cNvPr id="429" name="Google Shape;429;p39"/>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430" name="Google Shape;430;p39"/>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431" name="Shape 431"/>
        <p:cNvGrpSpPr/>
        <p:nvPr/>
      </p:nvGrpSpPr>
      <p:grpSpPr>
        <a:xfrm>
          <a:off x="0" y="0"/>
          <a:ext cx="0" cy="0"/>
          <a:chOff x="0" y="0"/>
          <a:chExt cx="0" cy="0"/>
        </a:xfrm>
      </p:grpSpPr>
      <p:sp>
        <p:nvSpPr>
          <p:cNvPr id="432" name="Google Shape;432;p4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433" name="Google Shape;433;p4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434" name="Google Shape;43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5" name="Google Shape;435;p40"/>
          <p:cNvSpPr/>
          <p:nvPr>
            <p:ph idx="2" type="pic"/>
          </p:nvPr>
        </p:nvSpPr>
        <p:spPr>
          <a:xfrm>
            <a:off x="3726325" y="669925"/>
            <a:ext cx="5220900" cy="4276800"/>
          </a:xfrm>
          <a:prstGeom prst="round2DiagRect">
            <a:avLst>
              <a:gd fmla="val 16667" name="adj1"/>
              <a:gd fmla="val 0" name="adj2"/>
            </a:avLst>
          </a:prstGeom>
          <a:noFill/>
          <a:ln>
            <a:noFill/>
          </a:ln>
        </p:spPr>
      </p:sp>
      <p:sp>
        <p:nvSpPr>
          <p:cNvPr id="436" name="Google Shape;436;p40"/>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437" name="Google Shape;437;p4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438" name="Google Shape;438;p40"/>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439" name="Shape 439"/>
        <p:cNvGrpSpPr/>
        <p:nvPr/>
      </p:nvGrpSpPr>
      <p:grpSpPr>
        <a:xfrm>
          <a:off x="0" y="0"/>
          <a:ext cx="0" cy="0"/>
          <a:chOff x="0" y="0"/>
          <a:chExt cx="0" cy="0"/>
        </a:xfrm>
      </p:grpSpPr>
      <p:sp>
        <p:nvSpPr>
          <p:cNvPr id="440" name="Google Shape;440;p41"/>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441" name="Google Shape;441;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42" name="Google Shape;442;p41"/>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443" name="Google Shape;443;p41"/>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444" name="Google Shape;444;p41"/>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45" name="Google Shape;445;p41"/>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446" name="Shape 446"/>
        <p:cNvGrpSpPr/>
        <p:nvPr/>
      </p:nvGrpSpPr>
      <p:grpSpPr>
        <a:xfrm>
          <a:off x="0" y="0"/>
          <a:ext cx="0" cy="0"/>
          <a:chOff x="0" y="0"/>
          <a:chExt cx="0" cy="0"/>
        </a:xfrm>
      </p:grpSpPr>
      <p:sp>
        <p:nvSpPr>
          <p:cNvPr id="447" name="Google Shape;44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448" name="Google Shape;448;p42"/>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49" name="Google Shape;449;p42"/>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0" name="Google Shape;450;p42"/>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51" name="Google Shape;451;p42"/>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2" name="Google Shape;452;p42"/>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3" name="Google Shape;453;p42"/>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54" name="Google Shape;454;p42"/>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5" name="Google Shape;455;p42"/>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6" name="Google Shape;456;p42"/>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57" name="Google Shape;457;p42"/>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8" name="Google Shape;458;p42"/>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59" name="Google Shape;459;p42"/>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60" name="Google Shape;460;p42"/>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1" name="Google Shape;461;p42"/>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2" name="Google Shape;462;p42"/>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63" name="Google Shape;463;p42"/>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4" name="Google Shape;464;p42"/>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5" name="Google Shape;465;p42"/>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66" name="Google Shape;466;p42"/>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7" name="Google Shape;467;p42"/>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68" name="Google Shape;468;p42"/>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69" name="Google Shape;469;p42"/>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70" name="Google Shape;470;p42"/>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71" name="Google Shape;471;p42"/>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72" name="Google Shape;472;p42"/>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73" name="Google Shape;473;p42"/>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474" name="Google Shape;474;p42"/>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475" name="Google Shape;475;p42"/>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476" name="Google Shape;476;p42"/>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477" name="Shape 477"/>
        <p:cNvGrpSpPr/>
        <p:nvPr/>
      </p:nvGrpSpPr>
      <p:grpSpPr>
        <a:xfrm>
          <a:off x="0" y="0"/>
          <a:ext cx="0" cy="0"/>
          <a:chOff x="0" y="0"/>
          <a:chExt cx="0" cy="0"/>
        </a:xfrm>
      </p:grpSpPr>
      <p:sp>
        <p:nvSpPr>
          <p:cNvPr id="478" name="Google Shape;47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79" name="Google Shape;479;p43"/>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480" name="Google Shape;480;p4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theme" Target="../theme/theme1.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3" name="Shape 273"/>
        <p:cNvGrpSpPr/>
        <p:nvPr/>
      </p:nvGrpSpPr>
      <p:grpSpPr>
        <a:xfrm>
          <a:off x="0" y="0"/>
          <a:ext cx="0" cy="0"/>
          <a:chOff x="0" y="0"/>
          <a:chExt cx="0" cy="0"/>
        </a:xfrm>
      </p:grpSpPr>
      <p:sp>
        <p:nvSpPr>
          <p:cNvPr id="274" name="Google Shape;274;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275" name="Google Shape;275;p13"/>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276" name="Google Shape;276;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14.xml"/><Relationship Id="rId3" Type="http://schemas.openxmlformats.org/officeDocument/2006/relationships/hyperlink" Target="https://www.culturecollections.org.uk/products/cell-cultures/ecacc-cell-line-profiles/mcf7/" TargetMode="External"/><Relationship Id="rId4" Type="http://schemas.openxmlformats.org/officeDocument/2006/relationships/hyperlink" Target="https://www.culturecollections.org.uk/products/cell-cultures/ecacc-cell-line-profiles/mcf7/" TargetMode="External"/><Relationship Id="rId5" Type="http://schemas.openxmlformats.org/officeDocument/2006/relationships/hyperlink" Target="https://doi.org/10.1093/nar/gku072" TargetMode="External"/><Relationship Id="rId6" Type="http://schemas.openxmlformats.org/officeDocument/2006/relationships/hyperlink" Target="https://doi.org/10.1182/blood-2014-11-610519" TargetMode="External"/><Relationship Id="rId7" Type="http://schemas.openxmlformats.org/officeDocument/2006/relationships/hyperlink" Target="https://doi.org/10.1242/dev.043299" TargetMode="External"/><Relationship Id="rId8" Type="http://schemas.openxmlformats.org/officeDocument/2006/relationships/hyperlink" Target="https://doi.org/10.1186/s12964-022-01029-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4"/>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050"/>
              <a:t>Comparison of bioinformatics workflows: nf-core/tfactivity, TF-Prioritizer, &amp; diffTF</a:t>
            </a:r>
            <a:endParaRPr sz="4050"/>
          </a:p>
        </p:txBody>
      </p:sp>
      <p:sp>
        <p:nvSpPr>
          <p:cNvPr id="486" name="Google Shape;486;p44"/>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Nick Huynh</a:t>
            </a:r>
            <a:endParaRPr/>
          </a:p>
        </p:txBody>
      </p:sp>
      <p:sp>
        <p:nvSpPr>
          <p:cNvPr id="487" name="Google Shape;487;p44"/>
          <p:cNvSpPr txBox="1"/>
          <p:nvPr/>
        </p:nvSpPr>
        <p:spPr>
          <a:xfrm>
            <a:off x="8888975" y="48315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DM Sans"/>
                <a:ea typeface="DM Sans"/>
                <a:cs typeface="DM Sans"/>
                <a:sym typeface="DM Sans"/>
              </a:rPr>
              <a:t>1</a:t>
            </a:r>
            <a:endParaRPr sz="1000">
              <a:solidFill>
                <a:schemeClr val="accent3"/>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5"/>
          <p:cNvSpPr txBox="1"/>
          <p:nvPr/>
        </p:nvSpPr>
        <p:spPr>
          <a:xfrm>
            <a:off x="168700" y="139425"/>
            <a:ext cx="87780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latin typeface="DM Sans"/>
                <a:ea typeface="DM Sans"/>
                <a:cs typeface="DM Sans"/>
                <a:sym typeface="DM Sans"/>
              </a:rPr>
              <a:t>Biological Question?</a:t>
            </a:r>
            <a:endParaRPr b="1" sz="3000">
              <a:solidFill>
                <a:schemeClr val="dk2"/>
              </a:solidFill>
              <a:latin typeface="DM Sans"/>
              <a:ea typeface="DM Sans"/>
              <a:cs typeface="DM Sans"/>
              <a:sym typeface="DM Sans"/>
            </a:endParaRPr>
          </a:p>
        </p:txBody>
      </p:sp>
      <p:sp>
        <p:nvSpPr>
          <p:cNvPr id="493" name="Google Shape;493;p45"/>
          <p:cNvSpPr txBox="1"/>
          <p:nvPr/>
        </p:nvSpPr>
        <p:spPr>
          <a:xfrm>
            <a:off x="283975" y="875675"/>
            <a:ext cx="8778000" cy="38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DM Sans"/>
                <a:ea typeface="DM Sans"/>
                <a:cs typeface="DM Sans"/>
                <a:sym typeface="DM Sans"/>
              </a:rPr>
              <a:t>How consistently do nf-core/tfactivity, TF-Prioritizer, and diffTF prioritize transcription factors that distinguish K562 and MCF7?</a:t>
            </a:r>
            <a:endParaRPr sz="2000">
              <a:solidFill>
                <a:schemeClr val="dk2"/>
              </a:solidFill>
              <a:latin typeface="DM Sans"/>
              <a:ea typeface="DM Sans"/>
              <a:cs typeface="DM Sans"/>
              <a:sym typeface="DM Sans"/>
            </a:endParaRPr>
          </a:p>
          <a:p>
            <a:pPr indent="0" lvl="0" marL="0" rtl="0" algn="l">
              <a:lnSpc>
                <a:spcPct val="115000"/>
              </a:lnSpc>
              <a:spcBef>
                <a:spcPts val="1200"/>
              </a:spcBef>
              <a:spcAft>
                <a:spcPts val="0"/>
              </a:spcAft>
              <a:buNone/>
            </a:pPr>
            <a:r>
              <a:t/>
            </a:r>
            <a:endParaRPr sz="2000">
              <a:solidFill>
                <a:schemeClr val="dk2"/>
              </a:solidFill>
              <a:latin typeface="DM Sans"/>
              <a:ea typeface="DM Sans"/>
              <a:cs typeface="DM Sans"/>
              <a:sym typeface="DM Sans"/>
            </a:endParaRPr>
          </a:p>
          <a:p>
            <a:pPr indent="0" lvl="0" marL="0" rtl="0" algn="l">
              <a:spcBef>
                <a:spcPts val="1200"/>
              </a:spcBef>
              <a:spcAft>
                <a:spcPts val="0"/>
              </a:spcAft>
              <a:buNone/>
            </a:pPr>
            <a:r>
              <a:t/>
            </a:r>
            <a:endParaRPr sz="2000">
              <a:solidFill>
                <a:schemeClr val="dk2"/>
              </a:solidFill>
              <a:latin typeface="DM Sans"/>
              <a:ea typeface="DM Sans"/>
              <a:cs typeface="DM Sans"/>
              <a:sym typeface="DM Sans"/>
            </a:endParaRPr>
          </a:p>
        </p:txBody>
      </p:sp>
      <p:pic>
        <p:nvPicPr>
          <p:cNvPr id="494" name="Google Shape;494;p45"/>
          <p:cNvPicPr preferRelativeResize="0"/>
          <p:nvPr/>
        </p:nvPicPr>
        <p:blipFill>
          <a:blip r:embed="rId3">
            <a:alphaModFix/>
          </a:blip>
          <a:stretch>
            <a:fillRect/>
          </a:stretch>
        </p:blipFill>
        <p:spPr>
          <a:xfrm>
            <a:off x="1603200" y="1610375"/>
            <a:ext cx="5908999" cy="3403100"/>
          </a:xfrm>
          <a:prstGeom prst="rect">
            <a:avLst/>
          </a:prstGeom>
          <a:noFill/>
          <a:ln>
            <a:noFill/>
          </a:ln>
        </p:spPr>
      </p:pic>
      <p:sp>
        <p:nvSpPr>
          <p:cNvPr id="495" name="Google Shape;495;p45"/>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2</a:t>
            </a:r>
            <a:endParaRPr sz="1000">
              <a:solidFill>
                <a:schemeClr val="dk2"/>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6"/>
          <p:cNvSpPr txBox="1"/>
          <p:nvPr/>
        </p:nvSpPr>
        <p:spPr>
          <a:xfrm>
            <a:off x="397700" y="343700"/>
            <a:ext cx="3484800" cy="44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latin typeface="DM Sans"/>
                <a:ea typeface="DM Sans"/>
                <a:cs typeface="DM Sans"/>
                <a:sym typeface="DM Sans"/>
              </a:rPr>
              <a:t>K562</a:t>
            </a:r>
            <a:endParaRPr b="1" sz="2000">
              <a:solidFill>
                <a:schemeClr val="dk2"/>
              </a:solidFill>
              <a:latin typeface="DM Sans"/>
              <a:ea typeface="DM Sans"/>
              <a:cs typeface="DM Sans"/>
              <a:sym typeface="DM Sans"/>
            </a:endParaRPr>
          </a:p>
          <a:p>
            <a:pPr indent="0" lvl="0" marL="0" rtl="0" algn="l">
              <a:spcBef>
                <a:spcPts val="0"/>
              </a:spcBef>
              <a:spcAft>
                <a:spcPts val="0"/>
              </a:spcAft>
              <a:buNone/>
            </a:pPr>
            <a:r>
              <a:t/>
            </a:r>
            <a:endParaRPr sz="20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Obtained from the pleural effusion of a 53 year old female</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Represents the prototypical cell culture model of </a:t>
            </a:r>
            <a:r>
              <a:rPr b="1" lang="en" sz="1600">
                <a:solidFill>
                  <a:schemeClr val="dk2"/>
                </a:solidFill>
                <a:latin typeface="DM Sans"/>
                <a:ea typeface="DM Sans"/>
                <a:cs typeface="DM Sans"/>
                <a:sym typeface="DM Sans"/>
              </a:rPr>
              <a:t>chronic myeloid leukemia (CML)</a:t>
            </a:r>
            <a:endParaRPr b="1"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Philadelphia chromosome positive</a:t>
            </a:r>
            <a:endParaRPr sz="1600">
              <a:solidFill>
                <a:schemeClr val="dk2"/>
              </a:solidFill>
              <a:latin typeface="DM Sans"/>
              <a:ea typeface="DM Sans"/>
              <a:cs typeface="DM Sans"/>
              <a:sym typeface="DM Sans"/>
            </a:endParaRPr>
          </a:p>
          <a:p>
            <a:pPr indent="-330200" lvl="1" marL="9144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Translocation of chromosome 9 &amp; 22</a:t>
            </a:r>
            <a:endParaRPr sz="1600">
              <a:solidFill>
                <a:schemeClr val="dk2"/>
              </a:solidFill>
              <a:latin typeface="DM Sans"/>
              <a:ea typeface="DM Sans"/>
              <a:cs typeface="DM Sans"/>
              <a:sym typeface="DM Sans"/>
            </a:endParaRPr>
          </a:p>
        </p:txBody>
      </p:sp>
      <p:sp>
        <p:nvSpPr>
          <p:cNvPr id="501" name="Google Shape;501;p46"/>
          <p:cNvSpPr txBox="1"/>
          <p:nvPr/>
        </p:nvSpPr>
        <p:spPr>
          <a:xfrm>
            <a:off x="4802325" y="343700"/>
            <a:ext cx="3484800" cy="448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3"/>
                </a:solidFill>
                <a:latin typeface="DM Sans"/>
                <a:ea typeface="DM Sans"/>
                <a:cs typeface="DM Sans"/>
                <a:sym typeface="DM Sans"/>
              </a:rPr>
              <a:t>MCF7</a:t>
            </a:r>
            <a:endParaRPr b="1" sz="2000">
              <a:solidFill>
                <a:schemeClr val="accent3"/>
              </a:solidFill>
              <a:latin typeface="DM Sans"/>
              <a:ea typeface="DM Sans"/>
              <a:cs typeface="DM Sans"/>
              <a:sym typeface="DM Sans"/>
            </a:endParaRPr>
          </a:p>
          <a:p>
            <a:pPr indent="0" lvl="0" marL="0" rtl="0" algn="l">
              <a:spcBef>
                <a:spcPts val="0"/>
              </a:spcBef>
              <a:spcAft>
                <a:spcPts val="0"/>
              </a:spcAft>
              <a:buNone/>
            </a:pPr>
            <a:r>
              <a:t/>
            </a:r>
            <a:endParaRPr sz="2000">
              <a:solidFill>
                <a:schemeClr val="accent3"/>
              </a:solidFill>
              <a:latin typeface="DM Sans"/>
              <a:ea typeface="DM Sans"/>
              <a:cs typeface="DM Sans"/>
              <a:sym typeface="DM Sans"/>
            </a:endParaRPr>
          </a:p>
          <a:p>
            <a:pPr indent="-330200" lvl="0" marL="457200" rtl="0" algn="l">
              <a:spcBef>
                <a:spcPts val="0"/>
              </a:spcBef>
              <a:spcAft>
                <a:spcPts val="0"/>
              </a:spcAft>
              <a:buClr>
                <a:schemeClr val="accent3"/>
              </a:buClr>
              <a:buSzPts val="1600"/>
              <a:buFont typeface="DM Sans"/>
              <a:buChar char="-"/>
            </a:pPr>
            <a:r>
              <a:rPr lang="en" sz="1600">
                <a:solidFill>
                  <a:schemeClr val="accent3"/>
                </a:solidFill>
                <a:latin typeface="DM Sans"/>
                <a:ea typeface="DM Sans"/>
                <a:cs typeface="DM Sans"/>
                <a:sym typeface="DM Sans"/>
              </a:rPr>
              <a:t>Obtained from the pleural effusion from a 69 year old female</a:t>
            </a:r>
            <a:endParaRPr sz="1600">
              <a:solidFill>
                <a:schemeClr val="accent3"/>
              </a:solidFill>
              <a:latin typeface="DM Sans"/>
              <a:ea typeface="DM Sans"/>
              <a:cs typeface="DM Sans"/>
              <a:sym typeface="DM Sans"/>
            </a:endParaRPr>
          </a:p>
          <a:p>
            <a:pPr indent="-330200" lvl="0" marL="457200" rtl="0" algn="l">
              <a:spcBef>
                <a:spcPts val="0"/>
              </a:spcBef>
              <a:spcAft>
                <a:spcPts val="0"/>
              </a:spcAft>
              <a:buClr>
                <a:schemeClr val="accent3"/>
              </a:buClr>
              <a:buSzPts val="1600"/>
              <a:buFont typeface="DM Sans"/>
              <a:buChar char="-"/>
            </a:pPr>
            <a:r>
              <a:rPr lang="en" sz="1600">
                <a:solidFill>
                  <a:schemeClr val="accent3"/>
                </a:solidFill>
                <a:latin typeface="DM Sans"/>
                <a:ea typeface="DM Sans"/>
                <a:cs typeface="DM Sans"/>
                <a:sym typeface="DM Sans"/>
              </a:rPr>
              <a:t>Used as an in vitro model for studying </a:t>
            </a:r>
            <a:r>
              <a:rPr b="1" lang="en" sz="1600">
                <a:solidFill>
                  <a:schemeClr val="accent3"/>
                </a:solidFill>
                <a:latin typeface="DM Sans"/>
                <a:ea typeface="DM Sans"/>
                <a:cs typeface="DM Sans"/>
                <a:sym typeface="DM Sans"/>
              </a:rPr>
              <a:t>breast cancer </a:t>
            </a:r>
            <a:r>
              <a:rPr lang="en" sz="1600">
                <a:solidFill>
                  <a:schemeClr val="accent3"/>
                </a:solidFill>
                <a:latin typeface="DM Sans"/>
                <a:ea typeface="DM Sans"/>
                <a:cs typeface="DM Sans"/>
                <a:sym typeface="DM Sans"/>
              </a:rPr>
              <a:t>biology</a:t>
            </a:r>
            <a:endParaRPr sz="1600">
              <a:solidFill>
                <a:schemeClr val="accent3"/>
              </a:solidFill>
              <a:latin typeface="DM Sans"/>
              <a:ea typeface="DM Sans"/>
              <a:cs typeface="DM Sans"/>
              <a:sym typeface="DM Sans"/>
            </a:endParaRPr>
          </a:p>
          <a:p>
            <a:pPr indent="-330200" lvl="0" marL="457200" rtl="0" algn="l">
              <a:spcBef>
                <a:spcPts val="0"/>
              </a:spcBef>
              <a:spcAft>
                <a:spcPts val="0"/>
              </a:spcAft>
              <a:buClr>
                <a:schemeClr val="accent3"/>
              </a:buClr>
              <a:buSzPts val="1600"/>
              <a:buFont typeface="DM Sans"/>
              <a:buChar char="-"/>
            </a:pPr>
            <a:r>
              <a:rPr lang="en" sz="1600">
                <a:solidFill>
                  <a:schemeClr val="accent3"/>
                </a:solidFill>
                <a:latin typeface="DM Sans"/>
                <a:ea typeface="DM Sans"/>
                <a:cs typeface="DM Sans"/>
                <a:sym typeface="DM Sans"/>
              </a:rPr>
              <a:t>Maintain a number of characteristics similar to mammary epithelium</a:t>
            </a:r>
            <a:endParaRPr sz="1600">
              <a:solidFill>
                <a:schemeClr val="accent3"/>
              </a:solidFill>
              <a:latin typeface="DM Sans"/>
              <a:ea typeface="DM Sans"/>
              <a:cs typeface="DM Sans"/>
              <a:sym typeface="DM Sans"/>
            </a:endParaRPr>
          </a:p>
        </p:txBody>
      </p:sp>
      <p:sp>
        <p:nvSpPr>
          <p:cNvPr id="502" name="Google Shape;502;p46"/>
          <p:cNvSpPr/>
          <p:nvPr/>
        </p:nvSpPr>
        <p:spPr>
          <a:xfrm>
            <a:off x="4215850" y="-3600"/>
            <a:ext cx="356100" cy="5143500"/>
          </a:xfrm>
          <a:prstGeom prst="rect">
            <a:avLst/>
          </a:prstGeom>
          <a:solidFill>
            <a:schemeClr val="lt2"/>
          </a:solidFill>
          <a:ln cap="flat" cmpd="sng" w="9525">
            <a:solidFill>
              <a:srgbClr val="D0E1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pic>
        <p:nvPicPr>
          <p:cNvPr id="503" name="Google Shape;503;p46"/>
          <p:cNvPicPr preferRelativeResize="0"/>
          <p:nvPr/>
        </p:nvPicPr>
        <p:blipFill>
          <a:blip r:embed="rId3">
            <a:alphaModFix/>
          </a:blip>
          <a:stretch>
            <a:fillRect/>
          </a:stretch>
        </p:blipFill>
        <p:spPr>
          <a:xfrm>
            <a:off x="397700" y="3505575"/>
            <a:ext cx="1921976" cy="1441475"/>
          </a:xfrm>
          <a:prstGeom prst="rect">
            <a:avLst/>
          </a:prstGeom>
          <a:noFill/>
          <a:ln>
            <a:noFill/>
          </a:ln>
        </p:spPr>
      </p:pic>
      <p:pic>
        <p:nvPicPr>
          <p:cNvPr id="504" name="Google Shape;504;p46"/>
          <p:cNvPicPr preferRelativeResize="0"/>
          <p:nvPr/>
        </p:nvPicPr>
        <p:blipFill>
          <a:blip r:embed="rId4">
            <a:alphaModFix/>
          </a:blip>
          <a:stretch>
            <a:fillRect/>
          </a:stretch>
        </p:blipFill>
        <p:spPr>
          <a:xfrm>
            <a:off x="2570250" y="3380725"/>
            <a:ext cx="1533075" cy="1691174"/>
          </a:xfrm>
          <a:prstGeom prst="rect">
            <a:avLst/>
          </a:prstGeom>
          <a:noFill/>
          <a:ln>
            <a:noFill/>
          </a:ln>
        </p:spPr>
      </p:pic>
      <p:pic>
        <p:nvPicPr>
          <p:cNvPr id="505" name="Google Shape;505;p46"/>
          <p:cNvPicPr preferRelativeResize="0"/>
          <p:nvPr/>
        </p:nvPicPr>
        <p:blipFill>
          <a:blip r:embed="rId5">
            <a:alphaModFix/>
          </a:blip>
          <a:stretch>
            <a:fillRect/>
          </a:stretch>
        </p:blipFill>
        <p:spPr>
          <a:xfrm>
            <a:off x="5245536" y="3406550"/>
            <a:ext cx="3041589" cy="1333125"/>
          </a:xfrm>
          <a:prstGeom prst="rect">
            <a:avLst/>
          </a:prstGeom>
          <a:noFill/>
          <a:ln>
            <a:noFill/>
          </a:ln>
        </p:spPr>
      </p:pic>
      <p:sp>
        <p:nvSpPr>
          <p:cNvPr id="506" name="Google Shape;506;p46"/>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DM Sans"/>
                <a:ea typeface="DM Sans"/>
                <a:cs typeface="DM Sans"/>
                <a:sym typeface="DM Sans"/>
              </a:rPr>
              <a:t>3</a:t>
            </a:r>
            <a:endParaRPr sz="1000">
              <a:solidFill>
                <a:schemeClr val="accent3"/>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7"/>
          <p:cNvSpPr txBox="1"/>
          <p:nvPr/>
        </p:nvSpPr>
        <p:spPr>
          <a:xfrm>
            <a:off x="168700" y="139425"/>
            <a:ext cx="87780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latin typeface="DM Sans"/>
                <a:ea typeface="DM Sans"/>
                <a:cs typeface="DM Sans"/>
                <a:sym typeface="DM Sans"/>
              </a:rPr>
              <a:t>TF-Prioritizer</a:t>
            </a:r>
            <a:endParaRPr b="1" sz="3000">
              <a:solidFill>
                <a:schemeClr val="dk2"/>
              </a:solidFill>
              <a:latin typeface="DM Sans"/>
              <a:ea typeface="DM Sans"/>
              <a:cs typeface="DM Sans"/>
              <a:sym typeface="DM Sans"/>
            </a:endParaRPr>
          </a:p>
        </p:txBody>
      </p:sp>
      <p:sp>
        <p:nvSpPr>
          <p:cNvPr id="512" name="Google Shape;512;p47"/>
          <p:cNvSpPr txBox="1"/>
          <p:nvPr/>
        </p:nvSpPr>
        <p:spPr>
          <a:xfrm>
            <a:off x="283975" y="749850"/>
            <a:ext cx="4559100" cy="4197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hlink"/>
              </a:buClr>
              <a:buSzPts val="1200"/>
              <a:buChar char="-"/>
            </a:pPr>
            <a:r>
              <a:rPr lang="en" sz="1200">
                <a:solidFill>
                  <a:schemeClr val="hlink"/>
                </a:solidFill>
              </a:rPr>
              <a:t>Primarily a Java-based pipeline</a:t>
            </a:r>
            <a:endParaRPr sz="1200">
              <a:solidFill>
                <a:schemeClr val="hlink"/>
              </a:solidFill>
            </a:endParaRPr>
          </a:p>
          <a:p>
            <a:pPr indent="-304800" lvl="0" marL="457200" rtl="0" algn="l">
              <a:spcBef>
                <a:spcPts val="0"/>
              </a:spcBef>
              <a:spcAft>
                <a:spcPts val="0"/>
              </a:spcAft>
              <a:buClr>
                <a:schemeClr val="hlink"/>
              </a:buClr>
              <a:buSzPts val="1200"/>
              <a:buChar char="-"/>
            </a:pPr>
            <a:r>
              <a:rPr lang="en" sz="1200">
                <a:solidFill>
                  <a:schemeClr val="hlink"/>
                </a:solidFill>
              </a:rPr>
              <a:t>Combines chromatin accessibility with gene expression to identify transcription factors that may contribute to differences between conditions</a:t>
            </a:r>
            <a:endParaRPr sz="1200">
              <a:solidFill>
                <a:schemeClr val="hlink"/>
              </a:solidFill>
            </a:endParaRPr>
          </a:p>
          <a:p>
            <a:pPr indent="-304800" lvl="0" marL="457200" rtl="0" algn="l">
              <a:spcBef>
                <a:spcPts val="0"/>
              </a:spcBef>
              <a:spcAft>
                <a:spcPts val="0"/>
              </a:spcAft>
              <a:buClr>
                <a:schemeClr val="hlink"/>
              </a:buClr>
              <a:buSzPts val="1200"/>
              <a:buChar char="-"/>
            </a:pPr>
            <a:r>
              <a:rPr lang="en" sz="1200">
                <a:solidFill>
                  <a:schemeClr val="hlink"/>
                </a:solidFill>
              </a:rPr>
              <a:t>The analysis compared K562 and MCF7 using DNase-seq accessibility data and RNA-seq gene counts</a:t>
            </a:r>
            <a:endParaRPr sz="1200">
              <a:solidFill>
                <a:schemeClr val="hlink"/>
              </a:solidFill>
            </a:endParaRPr>
          </a:p>
        </p:txBody>
      </p:sp>
      <p:pic>
        <p:nvPicPr>
          <p:cNvPr id="513" name="Google Shape;513;p47"/>
          <p:cNvPicPr preferRelativeResize="0"/>
          <p:nvPr/>
        </p:nvPicPr>
        <p:blipFill>
          <a:blip r:embed="rId3">
            <a:alphaModFix/>
          </a:blip>
          <a:stretch>
            <a:fillRect/>
          </a:stretch>
        </p:blipFill>
        <p:spPr>
          <a:xfrm>
            <a:off x="794475" y="2139600"/>
            <a:ext cx="3520451" cy="2720851"/>
          </a:xfrm>
          <a:prstGeom prst="rect">
            <a:avLst/>
          </a:prstGeom>
          <a:noFill/>
          <a:ln>
            <a:noFill/>
          </a:ln>
        </p:spPr>
      </p:pic>
      <p:pic>
        <p:nvPicPr>
          <p:cNvPr id="514" name="Google Shape;514;p47"/>
          <p:cNvPicPr preferRelativeResize="0"/>
          <p:nvPr/>
        </p:nvPicPr>
        <p:blipFill>
          <a:blip r:embed="rId4">
            <a:alphaModFix/>
          </a:blip>
          <a:stretch>
            <a:fillRect/>
          </a:stretch>
        </p:blipFill>
        <p:spPr>
          <a:xfrm>
            <a:off x="4888300" y="749853"/>
            <a:ext cx="4058325" cy="3929183"/>
          </a:xfrm>
          <a:prstGeom prst="rect">
            <a:avLst/>
          </a:prstGeom>
          <a:noFill/>
          <a:ln>
            <a:noFill/>
          </a:ln>
        </p:spPr>
      </p:pic>
      <p:sp>
        <p:nvSpPr>
          <p:cNvPr id="515" name="Google Shape;515;p47"/>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4</a:t>
            </a:r>
            <a:endParaRPr sz="1000">
              <a:solidFill>
                <a:schemeClr val="dk2"/>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48"/>
          <p:cNvSpPr txBox="1"/>
          <p:nvPr/>
        </p:nvSpPr>
        <p:spPr>
          <a:xfrm>
            <a:off x="168700" y="139425"/>
            <a:ext cx="87780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latin typeface="DM Sans"/>
                <a:ea typeface="DM Sans"/>
                <a:cs typeface="DM Sans"/>
                <a:sym typeface="DM Sans"/>
              </a:rPr>
              <a:t>nf-core/tfactivity</a:t>
            </a:r>
            <a:endParaRPr b="1" sz="3000">
              <a:solidFill>
                <a:schemeClr val="dk2"/>
              </a:solidFill>
              <a:latin typeface="DM Sans"/>
              <a:ea typeface="DM Sans"/>
              <a:cs typeface="DM Sans"/>
              <a:sym typeface="DM Sans"/>
            </a:endParaRPr>
          </a:p>
        </p:txBody>
      </p:sp>
      <p:sp>
        <p:nvSpPr>
          <p:cNvPr id="521" name="Google Shape;521;p48"/>
          <p:cNvSpPr txBox="1"/>
          <p:nvPr/>
        </p:nvSpPr>
        <p:spPr>
          <a:xfrm>
            <a:off x="283975" y="749850"/>
            <a:ext cx="4187700" cy="3729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DM Sans"/>
              <a:buChar char="-"/>
            </a:pPr>
            <a:r>
              <a:rPr lang="en" sz="1200">
                <a:solidFill>
                  <a:schemeClr val="dk2"/>
                </a:solidFill>
                <a:latin typeface="DM Sans"/>
                <a:ea typeface="DM Sans"/>
                <a:cs typeface="DM Sans"/>
                <a:sym typeface="DM Sans"/>
              </a:rPr>
              <a:t>Nextflow-based pipeline derived from TF-Prioritizer</a:t>
            </a:r>
            <a:endParaRPr sz="1200">
              <a:solidFill>
                <a:schemeClr val="dk2"/>
              </a:solidFill>
              <a:latin typeface="DM Sans"/>
              <a:ea typeface="DM Sans"/>
              <a:cs typeface="DM Sans"/>
              <a:sym typeface="DM Sans"/>
            </a:endParaRPr>
          </a:p>
          <a:p>
            <a:pPr indent="-304800" lvl="1" marL="914400" rtl="0" algn="l">
              <a:spcBef>
                <a:spcPts val="0"/>
              </a:spcBef>
              <a:spcAft>
                <a:spcPts val="0"/>
              </a:spcAft>
              <a:buClr>
                <a:schemeClr val="dk2"/>
              </a:buClr>
              <a:buSzPts val="1200"/>
              <a:buFont typeface="DM Sans"/>
              <a:buChar char="-"/>
            </a:pPr>
            <a:r>
              <a:rPr lang="en" sz="1200">
                <a:solidFill>
                  <a:schemeClr val="dk2"/>
                </a:solidFill>
                <a:latin typeface="DM Sans"/>
                <a:ea typeface="DM Sans"/>
                <a:cs typeface="DM Sans"/>
                <a:sym typeface="DM Sans"/>
              </a:rPr>
              <a:t>Nextflow makes the workflow modular and allows interrupted runs to resume from completed steps.</a:t>
            </a:r>
            <a:endParaRPr sz="1200">
              <a:solidFill>
                <a:schemeClr val="dk2"/>
              </a:solidFill>
              <a:latin typeface="DM Sans"/>
              <a:ea typeface="DM Sans"/>
              <a:cs typeface="DM Sans"/>
              <a:sym typeface="DM Sans"/>
            </a:endParaRPr>
          </a:p>
          <a:p>
            <a:pPr indent="-304800" lvl="0" marL="457200" rtl="0" algn="l">
              <a:spcBef>
                <a:spcPts val="0"/>
              </a:spcBef>
              <a:spcAft>
                <a:spcPts val="0"/>
              </a:spcAft>
              <a:buClr>
                <a:schemeClr val="dk2"/>
              </a:buClr>
              <a:buSzPts val="1200"/>
              <a:buFont typeface="DM Sans"/>
              <a:buChar char="-"/>
            </a:pPr>
            <a:r>
              <a:rPr lang="en" sz="1200">
                <a:solidFill>
                  <a:schemeClr val="dk2"/>
                </a:solidFill>
                <a:latin typeface="DM Sans"/>
                <a:ea typeface="DM Sans"/>
                <a:cs typeface="DM Sans"/>
                <a:sym typeface="DM Sans"/>
              </a:rPr>
              <a:t>Analysis compared K562 and MCF7 using the same ten DNase-seq peak samples and RNA-seq gene counts</a:t>
            </a:r>
            <a:endParaRPr sz="1200">
              <a:solidFill>
                <a:schemeClr val="dk2"/>
              </a:solidFill>
              <a:latin typeface="DM Sans"/>
              <a:ea typeface="DM Sans"/>
              <a:cs typeface="DM Sans"/>
              <a:sym typeface="DM Sans"/>
            </a:endParaRPr>
          </a:p>
        </p:txBody>
      </p:sp>
      <p:pic>
        <p:nvPicPr>
          <p:cNvPr id="522" name="Google Shape;522;p48"/>
          <p:cNvPicPr preferRelativeResize="0"/>
          <p:nvPr/>
        </p:nvPicPr>
        <p:blipFill>
          <a:blip r:embed="rId3">
            <a:alphaModFix/>
          </a:blip>
          <a:stretch>
            <a:fillRect/>
          </a:stretch>
        </p:blipFill>
        <p:spPr>
          <a:xfrm>
            <a:off x="914788" y="2454525"/>
            <a:ext cx="2926076" cy="2542177"/>
          </a:xfrm>
          <a:prstGeom prst="rect">
            <a:avLst/>
          </a:prstGeom>
          <a:noFill/>
          <a:ln>
            <a:noFill/>
          </a:ln>
        </p:spPr>
      </p:pic>
      <p:pic>
        <p:nvPicPr>
          <p:cNvPr id="523" name="Google Shape;523;p48"/>
          <p:cNvPicPr preferRelativeResize="0"/>
          <p:nvPr/>
        </p:nvPicPr>
        <p:blipFill>
          <a:blip r:embed="rId4">
            <a:alphaModFix/>
          </a:blip>
          <a:stretch>
            <a:fillRect/>
          </a:stretch>
        </p:blipFill>
        <p:spPr>
          <a:xfrm>
            <a:off x="4572000" y="582700"/>
            <a:ext cx="4367525" cy="4063901"/>
          </a:xfrm>
          <a:prstGeom prst="rect">
            <a:avLst/>
          </a:prstGeom>
          <a:noFill/>
          <a:ln>
            <a:noFill/>
          </a:ln>
        </p:spPr>
      </p:pic>
      <p:sp>
        <p:nvSpPr>
          <p:cNvPr id="524" name="Google Shape;524;p48"/>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5</a:t>
            </a:r>
            <a:endParaRPr sz="1000">
              <a:solidFill>
                <a:schemeClr val="dk2"/>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9"/>
          <p:cNvSpPr txBox="1"/>
          <p:nvPr/>
        </p:nvSpPr>
        <p:spPr>
          <a:xfrm>
            <a:off x="397700" y="343700"/>
            <a:ext cx="3484800" cy="20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2"/>
                </a:solidFill>
                <a:latin typeface="DM Sans"/>
                <a:ea typeface="DM Sans"/>
                <a:cs typeface="DM Sans"/>
                <a:sym typeface="DM Sans"/>
              </a:rPr>
              <a:t>STARE</a:t>
            </a:r>
            <a:endParaRPr b="1" sz="2000">
              <a:solidFill>
                <a:schemeClr val="dk2"/>
              </a:solidFill>
              <a:latin typeface="DM Sans"/>
              <a:ea typeface="DM Sans"/>
              <a:cs typeface="DM Sans"/>
              <a:sym typeface="DM Sans"/>
            </a:endParaRPr>
          </a:p>
          <a:p>
            <a:pPr indent="0" lvl="0" marL="457200" rtl="0" algn="l">
              <a:lnSpc>
                <a:spcPct val="115000"/>
              </a:lnSpc>
              <a:spcBef>
                <a:spcPts val="0"/>
              </a:spcBef>
              <a:spcAft>
                <a:spcPts val="0"/>
              </a:spcAft>
              <a:buNone/>
            </a:pPr>
            <a:r>
              <a:rPr i="1" lang="en" sz="1200">
                <a:solidFill>
                  <a:schemeClr val="dk2"/>
                </a:solidFill>
                <a:latin typeface="DM Sans"/>
                <a:ea typeface="DM Sans"/>
                <a:cs typeface="DM Sans"/>
                <a:sym typeface="DM Sans"/>
              </a:rPr>
              <a:t>Used by nf-core/tfactivity</a:t>
            </a:r>
            <a:endParaRPr i="1" sz="1200">
              <a:solidFill>
                <a:schemeClr val="dk2"/>
              </a:solidFill>
              <a:latin typeface="DM Sans"/>
              <a:ea typeface="DM Sans"/>
              <a:cs typeface="DM Sans"/>
              <a:sym typeface="DM Sans"/>
            </a:endParaRPr>
          </a:p>
          <a:p>
            <a:pPr indent="0" lvl="0" marL="0" rtl="0" algn="l">
              <a:lnSpc>
                <a:spcPct val="115000"/>
              </a:lnSpc>
              <a:spcBef>
                <a:spcPts val="0"/>
              </a:spcBef>
              <a:spcAft>
                <a:spcPts val="0"/>
              </a:spcAft>
              <a:buNone/>
            </a:pPr>
            <a:r>
              <a:t/>
            </a:r>
            <a:endParaRPr sz="1200">
              <a:solidFill>
                <a:schemeClr val="dk2"/>
              </a:solidFill>
              <a:latin typeface="DM Sans"/>
              <a:ea typeface="DM Sans"/>
              <a:cs typeface="DM Sans"/>
              <a:sym typeface="DM Sans"/>
            </a:endParaRPr>
          </a:p>
          <a:p>
            <a:pPr indent="-304800" lvl="0" marL="457200" rtl="0" algn="l">
              <a:lnSpc>
                <a:spcPct val="115000"/>
              </a:lnSpc>
              <a:spcBef>
                <a:spcPts val="0"/>
              </a:spcBef>
              <a:spcAft>
                <a:spcPts val="0"/>
              </a:spcAft>
              <a:buClr>
                <a:schemeClr val="dk2"/>
              </a:buClr>
              <a:buSzPts val="1200"/>
              <a:buFont typeface="DM Sans"/>
              <a:buChar char="-"/>
            </a:pPr>
            <a:r>
              <a:rPr lang="en" sz="1200">
                <a:solidFill>
                  <a:schemeClr val="dk2"/>
                </a:solidFill>
                <a:latin typeface="DM Sans"/>
                <a:ea typeface="DM Sans"/>
                <a:cs typeface="DM Sans"/>
                <a:sym typeface="DM Sans"/>
              </a:rPr>
              <a:t>Processed DNase-seq peaks were passed directly to STARE without footprint detection</a:t>
            </a:r>
            <a:endParaRPr sz="1200">
              <a:solidFill>
                <a:schemeClr val="dk2"/>
              </a:solidFill>
              <a:latin typeface="DM Sans"/>
              <a:ea typeface="DM Sans"/>
              <a:cs typeface="DM Sans"/>
              <a:sym typeface="DM Sans"/>
            </a:endParaRPr>
          </a:p>
          <a:p>
            <a:pPr indent="-304800" lvl="0" marL="457200" rtl="0" algn="l">
              <a:lnSpc>
                <a:spcPct val="115000"/>
              </a:lnSpc>
              <a:spcBef>
                <a:spcPts val="0"/>
              </a:spcBef>
              <a:spcAft>
                <a:spcPts val="0"/>
              </a:spcAft>
              <a:buClr>
                <a:schemeClr val="dk2"/>
              </a:buClr>
              <a:buSzPts val="1200"/>
              <a:buFont typeface="DM Sans"/>
              <a:buChar char="-"/>
            </a:pPr>
            <a:r>
              <a:rPr lang="en" sz="1200">
                <a:solidFill>
                  <a:schemeClr val="dk2"/>
                </a:solidFill>
                <a:latin typeface="DM Sans"/>
                <a:ea typeface="DM Sans"/>
                <a:cs typeface="DM Sans"/>
                <a:sym typeface="DM Sans"/>
              </a:rPr>
              <a:t>STARE calculated TF affinities across the entire sequence of each peak</a:t>
            </a:r>
            <a:endParaRPr sz="1200">
              <a:solidFill>
                <a:schemeClr val="dk2"/>
              </a:solidFill>
              <a:latin typeface="DM Sans"/>
              <a:ea typeface="DM Sans"/>
              <a:cs typeface="DM Sans"/>
              <a:sym typeface="DM Sans"/>
            </a:endParaRPr>
          </a:p>
        </p:txBody>
      </p:sp>
      <p:sp>
        <p:nvSpPr>
          <p:cNvPr id="530" name="Google Shape;530;p49"/>
          <p:cNvSpPr txBox="1"/>
          <p:nvPr/>
        </p:nvSpPr>
        <p:spPr>
          <a:xfrm>
            <a:off x="4802325" y="343700"/>
            <a:ext cx="3484800" cy="20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accent3"/>
                </a:solidFill>
                <a:latin typeface="DM Sans"/>
                <a:ea typeface="DM Sans"/>
                <a:cs typeface="DM Sans"/>
                <a:sym typeface="DM Sans"/>
              </a:rPr>
              <a:t>HINT + TEPIC</a:t>
            </a:r>
            <a:endParaRPr b="1" sz="2000">
              <a:solidFill>
                <a:schemeClr val="accent3"/>
              </a:solidFill>
              <a:latin typeface="DM Sans"/>
              <a:ea typeface="DM Sans"/>
              <a:cs typeface="DM Sans"/>
              <a:sym typeface="DM Sans"/>
            </a:endParaRPr>
          </a:p>
          <a:p>
            <a:pPr indent="0" lvl="0" marL="457200" rtl="0" algn="l">
              <a:lnSpc>
                <a:spcPct val="115000"/>
              </a:lnSpc>
              <a:spcBef>
                <a:spcPts val="0"/>
              </a:spcBef>
              <a:spcAft>
                <a:spcPts val="0"/>
              </a:spcAft>
              <a:buNone/>
            </a:pPr>
            <a:r>
              <a:rPr i="1" lang="en" sz="1200">
                <a:solidFill>
                  <a:schemeClr val="accent3"/>
                </a:solidFill>
                <a:latin typeface="DM Sans"/>
                <a:ea typeface="DM Sans"/>
                <a:cs typeface="DM Sans"/>
                <a:sym typeface="DM Sans"/>
              </a:rPr>
              <a:t>Used by TF-Prioritizer</a:t>
            </a:r>
            <a:endParaRPr i="1" sz="1200">
              <a:solidFill>
                <a:schemeClr val="accent3"/>
              </a:solidFill>
              <a:latin typeface="DM Sans"/>
              <a:ea typeface="DM Sans"/>
              <a:cs typeface="DM Sans"/>
              <a:sym typeface="DM Sans"/>
            </a:endParaRPr>
          </a:p>
          <a:p>
            <a:pPr indent="0" lvl="0" marL="457200" rtl="0" algn="l">
              <a:lnSpc>
                <a:spcPct val="115000"/>
              </a:lnSpc>
              <a:spcBef>
                <a:spcPts val="0"/>
              </a:spcBef>
              <a:spcAft>
                <a:spcPts val="0"/>
              </a:spcAft>
              <a:buNone/>
            </a:pPr>
            <a:r>
              <a:t/>
            </a:r>
            <a:endParaRPr i="1" sz="1200">
              <a:solidFill>
                <a:schemeClr val="accent3"/>
              </a:solidFill>
              <a:latin typeface="DM Sans"/>
              <a:ea typeface="DM Sans"/>
              <a:cs typeface="DM Sans"/>
              <a:sym typeface="DM Sans"/>
            </a:endParaRPr>
          </a:p>
          <a:p>
            <a:pPr indent="-304800" lvl="0" marL="457200" rtl="0" algn="l">
              <a:lnSpc>
                <a:spcPct val="115000"/>
              </a:lnSpc>
              <a:spcBef>
                <a:spcPts val="0"/>
              </a:spcBef>
              <a:spcAft>
                <a:spcPts val="0"/>
              </a:spcAft>
              <a:buClr>
                <a:schemeClr val="accent3"/>
              </a:buClr>
              <a:buSzPts val="1200"/>
              <a:buFont typeface="DM Sans"/>
              <a:buChar char="-"/>
            </a:pPr>
            <a:r>
              <a:rPr lang="en" sz="1200">
                <a:solidFill>
                  <a:schemeClr val="accent3"/>
                </a:solidFill>
                <a:latin typeface="DM Sans"/>
                <a:ea typeface="DM Sans"/>
                <a:cs typeface="DM Sans"/>
                <a:sym typeface="DM Sans"/>
              </a:rPr>
              <a:t>HINT used a hidden Markov model to detect protected footprints from DNase-seq cut patterns</a:t>
            </a:r>
            <a:endParaRPr sz="1200">
              <a:solidFill>
                <a:schemeClr val="accent3"/>
              </a:solidFill>
              <a:latin typeface="DM Sans"/>
              <a:ea typeface="DM Sans"/>
              <a:cs typeface="DM Sans"/>
              <a:sym typeface="DM Sans"/>
            </a:endParaRPr>
          </a:p>
          <a:p>
            <a:pPr indent="-304800" lvl="0" marL="457200" rtl="0" algn="l">
              <a:lnSpc>
                <a:spcPct val="115000"/>
              </a:lnSpc>
              <a:spcBef>
                <a:spcPts val="0"/>
              </a:spcBef>
              <a:spcAft>
                <a:spcPts val="0"/>
              </a:spcAft>
              <a:buClr>
                <a:schemeClr val="accent3"/>
              </a:buClr>
              <a:buSzPts val="1200"/>
              <a:buFont typeface="DM Sans"/>
              <a:buChar char="-"/>
            </a:pPr>
            <a:r>
              <a:rPr lang="en" sz="1200">
                <a:solidFill>
                  <a:schemeClr val="accent3"/>
                </a:solidFill>
                <a:latin typeface="DM Sans"/>
                <a:ea typeface="DM Sans"/>
                <a:cs typeface="DM Sans"/>
                <a:sym typeface="DM Sans"/>
              </a:rPr>
              <a:t>TEPIC calculated TF affinities within each footprint sequence</a:t>
            </a:r>
            <a:endParaRPr sz="1200">
              <a:solidFill>
                <a:schemeClr val="accent3"/>
              </a:solidFill>
              <a:latin typeface="DM Sans"/>
              <a:ea typeface="DM Sans"/>
              <a:cs typeface="DM Sans"/>
              <a:sym typeface="DM Sans"/>
            </a:endParaRPr>
          </a:p>
          <a:p>
            <a:pPr indent="0" lvl="0" marL="0" rtl="0" algn="l">
              <a:lnSpc>
                <a:spcPct val="115000"/>
              </a:lnSpc>
              <a:spcBef>
                <a:spcPts val="0"/>
              </a:spcBef>
              <a:spcAft>
                <a:spcPts val="0"/>
              </a:spcAft>
              <a:buNone/>
            </a:pPr>
            <a:r>
              <a:t/>
            </a:r>
            <a:endParaRPr sz="1200">
              <a:solidFill>
                <a:schemeClr val="accent3"/>
              </a:solidFill>
              <a:latin typeface="DM Sans"/>
              <a:ea typeface="DM Sans"/>
              <a:cs typeface="DM Sans"/>
              <a:sym typeface="DM Sans"/>
            </a:endParaRPr>
          </a:p>
        </p:txBody>
      </p:sp>
      <p:sp>
        <p:nvSpPr>
          <p:cNvPr id="531" name="Google Shape;531;p49"/>
          <p:cNvSpPr/>
          <p:nvPr/>
        </p:nvSpPr>
        <p:spPr>
          <a:xfrm>
            <a:off x="4215850" y="-3600"/>
            <a:ext cx="356100" cy="5143500"/>
          </a:xfrm>
          <a:prstGeom prst="rect">
            <a:avLst/>
          </a:prstGeom>
          <a:solidFill>
            <a:schemeClr val="lt2"/>
          </a:solidFill>
          <a:ln cap="flat" cmpd="sng" w="9525">
            <a:solidFill>
              <a:srgbClr val="D0E1E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32" name="Google Shape;532;p49"/>
          <p:cNvSpPr/>
          <p:nvPr/>
        </p:nvSpPr>
        <p:spPr>
          <a:xfrm>
            <a:off x="380375" y="2398116"/>
            <a:ext cx="8387700" cy="2741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33" name="Google Shape;533;p49"/>
          <p:cNvSpPr txBox="1"/>
          <p:nvPr/>
        </p:nvSpPr>
        <p:spPr>
          <a:xfrm>
            <a:off x="371675" y="2360722"/>
            <a:ext cx="8405100" cy="2688300"/>
          </a:xfrm>
          <a:prstGeom prst="rect">
            <a:avLst/>
          </a:prstGeom>
          <a:noFill/>
          <a:ln>
            <a:noFill/>
          </a:ln>
        </p:spPr>
        <p:txBody>
          <a:bodyPr anchorCtr="0" anchor="t" bIns="91425" lIns="91425" spcFirstLastPara="1" rIns="91425" wrap="square" tIns="91425">
            <a:noAutofit/>
          </a:bodyPr>
          <a:lstStyle/>
          <a:p>
            <a:pPr indent="0" lvl="0" marL="0" rtl="0" algn="ctr">
              <a:lnSpc>
                <a:spcPct val="200000"/>
              </a:lnSpc>
              <a:spcBef>
                <a:spcPts val="0"/>
              </a:spcBef>
              <a:spcAft>
                <a:spcPts val="0"/>
              </a:spcAft>
              <a:buNone/>
            </a:pPr>
            <a:r>
              <a:rPr lang="en">
                <a:solidFill>
                  <a:schemeClr val="dk2"/>
                </a:solidFill>
                <a:latin typeface="DM Sans"/>
                <a:ea typeface="DM Sans"/>
                <a:cs typeface="DM Sans"/>
                <a:sym typeface="DM Sans"/>
              </a:rPr>
              <a:t>Both tools calculated regional TF affinity similarly:</a:t>
            </a:r>
            <a:endParaRPr>
              <a:solidFill>
                <a:schemeClr val="dk2"/>
              </a:solidFill>
              <a:latin typeface="DM Sans"/>
              <a:ea typeface="DM Sans"/>
              <a:cs typeface="DM Sans"/>
              <a:sym typeface="DM Sans"/>
            </a:endParaRPr>
          </a:p>
          <a:p>
            <a:pPr indent="-317500" lvl="0" marL="914400" rtl="0" algn="l">
              <a:lnSpc>
                <a:spcPct val="200000"/>
              </a:lnSpc>
              <a:spcBef>
                <a:spcPts val="0"/>
              </a:spcBef>
              <a:spcAft>
                <a:spcPts val="0"/>
              </a:spcAft>
              <a:buClr>
                <a:schemeClr val="dk2"/>
              </a:buClr>
              <a:buSzPts val="1400"/>
              <a:buFont typeface="DM Sans"/>
              <a:buAutoNum type="arabicPeriod"/>
            </a:pPr>
            <a:r>
              <a:rPr lang="en">
                <a:solidFill>
                  <a:schemeClr val="dk2"/>
                </a:solidFill>
                <a:latin typeface="DM Sans"/>
                <a:ea typeface="DM Sans"/>
                <a:cs typeface="DM Sans"/>
                <a:sym typeface="DM Sans"/>
              </a:rPr>
              <a:t>Extract the selected peak or footprint </a:t>
            </a:r>
            <a:r>
              <a:rPr lang="en">
                <a:solidFill>
                  <a:schemeClr val="dk2"/>
                </a:solidFill>
                <a:latin typeface="DM Sans"/>
                <a:ea typeface="DM Sans"/>
                <a:cs typeface="DM Sans"/>
                <a:sym typeface="DM Sans"/>
              </a:rPr>
              <a:t>sequence</a:t>
            </a:r>
            <a:r>
              <a:rPr lang="en">
                <a:solidFill>
                  <a:schemeClr val="dk2"/>
                </a:solidFill>
                <a:latin typeface="DM Sans"/>
                <a:ea typeface="DM Sans"/>
                <a:cs typeface="DM Sans"/>
                <a:sym typeface="DM Sans"/>
              </a:rPr>
              <a:t> </a:t>
            </a:r>
            <a:r>
              <a:rPr lang="en">
                <a:solidFill>
                  <a:schemeClr val="dk2"/>
                </a:solidFill>
                <a:latin typeface="DM Sans"/>
                <a:ea typeface="DM Sans"/>
                <a:cs typeface="DM Sans"/>
                <a:sym typeface="DM Sans"/>
              </a:rPr>
              <a:t>from the reference genome</a:t>
            </a:r>
            <a:endParaRPr>
              <a:solidFill>
                <a:schemeClr val="dk2"/>
              </a:solidFill>
              <a:latin typeface="DM Sans"/>
              <a:ea typeface="DM Sans"/>
              <a:cs typeface="DM Sans"/>
              <a:sym typeface="DM Sans"/>
            </a:endParaRPr>
          </a:p>
          <a:p>
            <a:pPr indent="-317500" lvl="0" marL="914400" rtl="0" algn="l">
              <a:lnSpc>
                <a:spcPct val="200000"/>
              </a:lnSpc>
              <a:spcBef>
                <a:spcPts val="0"/>
              </a:spcBef>
              <a:spcAft>
                <a:spcPts val="0"/>
              </a:spcAft>
              <a:buClr>
                <a:schemeClr val="dk2"/>
              </a:buClr>
              <a:buSzPts val="1400"/>
              <a:buFont typeface="DM Sans"/>
              <a:buAutoNum type="arabicPeriod"/>
            </a:pPr>
            <a:r>
              <a:rPr lang="en">
                <a:solidFill>
                  <a:schemeClr val="dk2"/>
                </a:solidFill>
                <a:latin typeface="DM Sans"/>
                <a:ea typeface="DM Sans"/>
                <a:cs typeface="DM Sans"/>
                <a:sym typeface="DM Sans"/>
              </a:rPr>
              <a:t>Compare positions throughout the sequence with known TF-binding motifs</a:t>
            </a:r>
            <a:endParaRPr>
              <a:solidFill>
                <a:schemeClr val="dk2"/>
              </a:solidFill>
              <a:latin typeface="DM Sans"/>
              <a:ea typeface="DM Sans"/>
              <a:cs typeface="DM Sans"/>
              <a:sym typeface="DM Sans"/>
            </a:endParaRPr>
          </a:p>
          <a:p>
            <a:pPr indent="-317500" lvl="0" marL="914400" rtl="0" algn="l">
              <a:lnSpc>
                <a:spcPct val="200000"/>
              </a:lnSpc>
              <a:spcBef>
                <a:spcPts val="0"/>
              </a:spcBef>
              <a:spcAft>
                <a:spcPts val="0"/>
              </a:spcAft>
              <a:buClr>
                <a:schemeClr val="dk2"/>
              </a:buClr>
              <a:buSzPts val="1400"/>
              <a:buFont typeface="DM Sans"/>
              <a:buAutoNum type="arabicPeriod"/>
            </a:pPr>
            <a:r>
              <a:rPr lang="en">
                <a:solidFill>
                  <a:schemeClr val="dk2"/>
                </a:solidFill>
                <a:latin typeface="DM Sans"/>
                <a:ea typeface="DM Sans"/>
                <a:cs typeface="DM Sans"/>
                <a:sym typeface="DM Sans"/>
              </a:rPr>
              <a:t>Combine the predicted binding contributions into a regional TF-affinity score</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a:solidFill>
                <a:schemeClr val="dk2"/>
              </a:solidFill>
              <a:latin typeface="DM Sans"/>
              <a:ea typeface="DM Sans"/>
              <a:cs typeface="DM Sans"/>
              <a:sym typeface="DM Sans"/>
            </a:endParaRPr>
          </a:p>
          <a:p>
            <a:pPr indent="0" lvl="0" marL="0" rtl="0" algn="l">
              <a:spcBef>
                <a:spcPts val="0"/>
              </a:spcBef>
              <a:spcAft>
                <a:spcPts val="0"/>
              </a:spcAft>
              <a:buNone/>
            </a:pPr>
            <a:r>
              <a:rPr lang="en">
                <a:solidFill>
                  <a:schemeClr val="dk2"/>
                </a:solidFill>
                <a:latin typeface="DM Sans"/>
                <a:ea typeface="DM Sans"/>
                <a:cs typeface="DM Sans"/>
                <a:sym typeface="DM Sans"/>
              </a:rPr>
              <a:t>Because complete peaks are typically longer and may contain more possible motif </a:t>
            </a:r>
            <a:r>
              <a:rPr lang="en">
                <a:solidFill>
                  <a:schemeClr val="dk2"/>
                </a:solidFill>
                <a:latin typeface="DM Sans"/>
                <a:ea typeface="DM Sans"/>
                <a:cs typeface="DM Sans"/>
                <a:sym typeface="DM Sans"/>
              </a:rPr>
              <a:t>occurrences</a:t>
            </a:r>
            <a:r>
              <a:rPr lang="en">
                <a:solidFill>
                  <a:schemeClr val="dk2"/>
                </a:solidFill>
                <a:latin typeface="DM Sans"/>
                <a:ea typeface="DM Sans"/>
                <a:cs typeface="DM Sans"/>
                <a:sym typeface="DM Sans"/>
              </a:rPr>
              <a:t> than footprints, the resulting TF-gene affinity scores can differ. </a:t>
            </a:r>
            <a:endParaRPr>
              <a:solidFill>
                <a:schemeClr val="dk2"/>
              </a:solidFill>
              <a:latin typeface="DM Sans"/>
              <a:ea typeface="DM Sans"/>
              <a:cs typeface="DM Sans"/>
              <a:sym typeface="DM Sans"/>
            </a:endParaRPr>
          </a:p>
          <a:p>
            <a:pPr indent="0" lvl="0" marL="0" rtl="0" algn="l">
              <a:spcBef>
                <a:spcPts val="0"/>
              </a:spcBef>
              <a:spcAft>
                <a:spcPts val="0"/>
              </a:spcAft>
              <a:buNone/>
            </a:pPr>
            <a:r>
              <a:t/>
            </a:r>
            <a:endParaRPr sz="1000">
              <a:solidFill>
                <a:schemeClr val="dk2"/>
              </a:solidFill>
              <a:latin typeface="DM Sans"/>
              <a:ea typeface="DM Sans"/>
              <a:cs typeface="DM Sans"/>
              <a:sym typeface="DM Sans"/>
            </a:endParaRPr>
          </a:p>
        </p:txBody>
      </p:sp>
      <p:sp>
        <p:nvSpPr>
          <p:cNvPr id="534" name="Google Shape;534;p49"/>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accent3"/>
                </a:solidFill>
                <a:latin typeface="DM Sans"/>
                <a:ea typeface="DM Sans"/>
                <a:cs typeface="DM Sans"/>
                <a:sym typeface="DM Sans"/>
              </a:rPr>
              <a:t>6</a:t>
            </a:r>
            <a:endParaRPr sz="1000">
              <a:solidFill>
                <a:schemeClr val="accent3"/>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0"/>
          <p:cNvSpPr txBox="1"/>
          <p:nvPr/>
        </p:nvSpPr>
        <p:spPr>
          <a:xfrm>
            <a:off x="168700" y="139425"/>
            <a:ext cx="87780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2"/>
                </a:solidFill>
                <a:latin typeface="DM Sans"/>
                <a:ea typeface="DM Sans"/>
                <a:cs typeface="DM Sans"/>
                <a:sym typeface="DM Sans"/>
              </a:rPr>
              <a:t>diffTF</a:t>
            </a:r>
            <a:endParaRPr b="1" sz="3000">
              <a:solidFill>
                <a:schemeClr val="dk2"/>
              </a:solidFill>
              <a:latin typeface="DM Sans"/>
              <a:ea typeface="DM Sans"/>
              <a:cs typeface="DM Sans"/>
              <a:sym typeface="DM Sans"/>
            </a:endParaRPr>
          </a:p>
        </p:txBody>
      </p:sp>
      <p:sp>
        <p:nvSpPr>
          <p:cNvPr id="540" name="Google Shape;540;p50"/>
          <p:cNvSpPr txBox="1"/>
          <p:nvPr/>
        </p:nvSpPr>
        <p:spPr>
          <a:xfrm>
            <a:off x="283975" y="749850"/>
            <a:ext cx="4800600" cy="4039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Snakemake/R-based pipeline</a:t>
            </a:r>
            <a:endParaRPr>
              <a:solidFill>
                <a:schemeClr val="dk2"/>
              </a:solidFill>
              <a:latin typeface="DM Sans"/>
              <a:ea typeface="DM Sans"/>
              <a:cs typeface="DM Sans"/>
              <a:sym typeface="DM Sans"/>
            </a:endParaRPr>
          </a:p>
          <a:p>
            <a:pPr indent="-317500" lvl="0" marL="4572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Measures chromatin accessibility around predicted TF-binding sites</a:t>
            </a:r>
            <a:endParaRPr>
              <a:solidFill>
                <a:schemeClr val="dk2"/>
              </a:solidFill>
              <a:latin typeface="DM Sans"/>
              <a:ea typeface="DM Sans"/>
              <a:cs typeface="DM Sans"/>
              <a:sym typeface="DM Sans"/>
            </a:endParaRPr>
          </a:p>
          <a:p>
            <a:pPr indent="-317500" lvl="0" marL="4572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Greater accessibility suggests greater TF activity</a:t>
            </a:r>
            <a:endParaRPr>
              <a:solidFill>
                <a:schemeClr val="dk2"/>
              </a:solidFill>
              <a:latin typeface="DM Sans"/>
              <a:ea typeface="DM Sans"/>
              <a:cs typeface="DM Sans"/>
              <a:sym typeface="DM Sans"/>
            </a:endParaRPr>
          </a:p>
          <a:p>
            <a:pPr indent="-317500" lvl="0" marL="4572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Produces differential TF-activity scores and statistical significance</a:t>
            </a:r>
            <a:endParaRPr>
              <a:solidFill>
                <a:schemeClr val="dk2"/>
              </a:solidFill>
              <a:latin typeface="DM Sans"/>
              <a:ea typeface="DM Sans"/>
              <a:cs typeface="DM Sans"/>
              <a:sym typeface="DM Sans"/>
            </a:endParaRPr>
          </a:p>
          <a:p>
            <a:pPr indent="0" lvl="0" marL="457200" rtl="0" algn="l">
              <a:lnSpc>
                <a:spcPct val="115000"/>
              </a:lnSpc>
              <a:spcBef>
                <a:spcPts val="0"/>
              </a:spcBef>
              <a:spcAft>
                <a:spcPts val="0"/>
              </a:spcAft>
              <a:buNone/>
            </a:pPr>
            <a:r>
              <a:t/>
            </a:r>
            <a:endParaRPr>
              <a:solidFill>
                <a:schemeClr val="dk2"/>
              </a:solidFill>
              <a:latin typeface="DM Sans"/>
              <a:ea typeface="DM Sans"/>
              <a:cs typeface="DM Sans"/>
              <a:sym typeface="DM Sans"/>
            </a:endParaRPr>
          </a:p>
          <a:p>
            <a:pPr indent="-317500" lvl="0" marL="4572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Optional Classification Mode:</a:t>
            </a:r>
            <a:endParaRPr>
              <a:solidFill>
                <a:schemeClr val="dk2"/>
              </a:solidFill>
              <a:latin typeface="DM Sans"/>
              <a:ea typeface="DM Sans"/>
              <a:cs typeface="DM Sans"/>
              <a:sym typeface="DM Sans"/>
            </a:endParaRPr>
          </a:p>
          <a:p>
            <a:pPr indent="-317500" lvl="1" marL="914400" rtl="0" algn="l">
              <a:lnSpc>
                <a:spcPct val="115000"/>
              </a:lnSpc>
              <a:spcBef>
                <a:spcPts val="0"/>
              </a:spcBef>
              <a:spcAft>
                <a:spcPts val="0"/>
              </a:spcAft>
              <a:buClr>
                <a:schemeClr val="dk2"/>
              </a:buClr>
              <a:buSzPts val="1400"/>
              <a:buFont typeface="DM Sans"/>
              <a:buChar char="-"/>
            </a:pPr>
            <a:r>
              <a:rPr lang="en">
                <a:solidFill>
                  <a:schemeClr val="dk2"/>
                </a:solidFill>
                <a:latin typeface="DM Sans"/>
                <a:ea typeface="DM Sans"/>
                <a:cs typeface="DM Sans"/>
                <a:sym typeface="DM Sans"/>
              </a:rPr>
              <a:t>Can integrate RNA-seq to classify TFs as possible activators/repressors</a:t>
            </a:r>
            <a:endParaRPr>
              <a:solidFill>
                <a:schemeClr val="dk2"/>
              </a:solidFill>
              <a:latin typeface="DM Sans"/>
              <a:ea typeface="DM Sans"/>
              <a:cs typeface="DM Sans"/>
              <a:sym typeface="DM Sans"/>
            </a:endParaRPr>
          </a:p>
        </p:txBody>
      </p:sp>
      <p:pic>
        <p:nvPicPr>
          <p:cNvPr id="541" name="Google Shape;541;p50"/>
          <p:cNvPicPr preferRelativeResize="0"/>
          <p:nvPr/>
        </p:nvPicPr>
        <p:blipFill>
          <a:blip r:embed="rId3">
            <a:alphaModFix/>
          </a:blip>
          <a:stretch>
            <a:fillRect/>
          </a:stretch>
        </p:blipFill>
        <p:spPr>
          <a:xfrm>
            <a:off x="5084575" y="167938"/>
            <a:ext cx="3108050" cy="4807624"/>
          </a:xfrm>
          <a:prstGeom prst="rect">
            <a:avLst/>
          </a:prstGeom>
          <a:noFill/>
          <a:ln>
            <a:noFill/>
          </a:ln>
        </p:spPr>
      </p:pic>
      <p:pic>
        <p:nvPicPr>
          <p:cNvPr id="542" name="Google Shape;542;p50"/>
          <p:cNvPicPr preferRelativeResize="0"/>
          <p:nvPr/>
        </p:nvPicPr>
        <p:blipFill>
          <a:blip r:embed="rId4">
            <a:alphaModFix/>
          </a:blip>
          <a:stretch>
            <a:fillRect/>
          </a:stretch>
        </p:blipFill>
        <p:spPr>
          <a:xfrm>
            <a:off x="1803150" y="3264000"/>
            <a:ext cx="1762249" cy="1762276"/>
          </a:xfrm>
          <a:prstGeom prst="rect">
            <a:avLst/>
          </a:prstGeom>
          <a:noFill/>
          <a:ln>
            <a:noFill/>
          </a:ln>
        </p:spPr>
      </p:pic>
      <p:sp>
        <p:nvSpPr>
          <p:cNvPr id="543" name="Google Shape;543;p50"/>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7</a:t>
            </a:r>
            <a:endParaRPr sz="1000">
              <a:solidFill>
                <a:schemeClr val="dk2"/>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1"/>
          <p:cNvSpPr txBox="1"/>
          <p:nvPr/>
        </p:nvSpPr>
        <p:spPr>
          <a:xfrm>
            <a:off x="168700" y="139425"/>
            <a:ext cx="8778000" cy="52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Project</a:t>
            </a:r>
            <a:endParaRPr sz="3000">
              <a:solidFill>
                <a:schemeClr val="dk2"/>
              </a:solidFill>
              <a:latin typeface="DM Sans"/>
              <a:ea typeface="DM Sans"/>
              <a:cs typeface="DM Sans"/>
              <a:sym typeface="DM Sans"/>
            </a:endParaRPr>
          </a:p>
          <a:p>
            <a:pPr indent="0" lvl="0" marL="0" rtl="0" algn="l">
              <a:spcBef>
                <a:spcPts val="0"/>
              </a:spcBef>
              <a:spcAft>
                <a:spcPts val="0"/>
              </a:spcAft>
              <a:buNone/>
            </a:pPr>
            <a:r>
              <a:rPr lang="en" sz="3000">
                <a:solidFill>
                  <a:schemeClr val="dk2"/>
                </a:solidFill>
                <a:latin typeface="DM Sans"/>
                <a:ea typeface="DM Sans"/>
                <a:cs typeface="DM Sans"/>
                <a:sym typeface="DM Sans"/>
              </a:rPr>
              <a:t>Workflow</a:t>
            </a:r>
            <a:endParaRPr sz="3000">
              <a:solidFill>
                <a:schemeClr val="dk2"/>
              </a:solidFill>
              <a:latin typeface="DM Sans"/>
              <a:ea typeface="DM Sans"/>
              <a:cs typeface="DM Sans"/>
              <a:sym typeface="DM Sans"/>
            </a:endParaRPr>
          </a:p>
        </p:txBody>
      </p:sp>
      <p:pic>
        <p:nvPicPr>
          <p:cNvPr id="549" name="Google Shape;549;p51"/>
          <p:cNvPicPr preferRelativeResize="0"/>
          <p:nvPr/>
        </p:nvPicPr>
        <p:blipFill>
          <a:blip r:embed="rId3">
            <a:alphaModFix/>
          </a:blip>
          <a:stretch>
            <a:fillRect/>
          </a:stretch>
        </p:blipFill>
        <p:spPr>
          <a:xfrm>
            <a:off x="1747675" y="315375"/>
            <a:ext cx="5339849" cy="4512750"/>
          </a:xfrm>
          <a:prstGeom prst="rect">
            <a:avLst/>
          </a:prstGeom>
          <a:noFill/>
          <a:ln>
            <a:noFill/>
          </a:ln>
        </p:spPr>
      </p:pic>
      <p:sp>
        <p:nvSpPr>
          <p:cNvPr id="550" name="Google Shape;550;p51"/>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8</a:t>
            </a:r>
            <a:endParaRPr sz="1000">
              <a:solidFill>
                <a:schemeClr val="dk2"/>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2"/>
          <p:cNvSpPr txBox="1"/>
          <p:nvPr/>
        </p:nvSpPr>
        <p:spPr>
          <a:xfrm>
            <a:off x="168700" y="139425"/>
            <a:ext cx="8778000" cy="6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Biological Results</a:t>
            </a:r>
            <a:endParaRPr sz="3000">
              <a:solidFill>
                <a:schemeClr val="dk2"/>
              </a:solidFill>
              <a:latin typeface="DM Sans"/>
              <a:ea typeface="DM Sans"/>
              <a:cs typeface="DM Sans"/>
              <a:sym typeface="DM Sans"/>
            </a:endParaRPr>
          </a:p>
        </p:txBody>
      </p:sp>
      <p:sp>
        <p:nvSpPr>
          <p:cNvPr id="556" name="Google Shape;556;p52"/>
          <p:cNvSpPr txBox="1"/>
          <p:nvPr/>
        </p:nvSpPr>
        <p:spPr>
          <a:xfrm>
            <a:off x="4574450" y="450077"/>
            <a:ext cx="4244100" cy="290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solidFill>
                  <a:schemeClr val="dk2"/>
                </a:solidFill>
                <a:latin typeface="DM Sans"/>
                <a:ea typeface="DM Sans"/>
                <a:cs typeface="DM Sans"/>
                <a:sym typeface="DM Sans"/>
              </a:rPr>
              <a:t>Recovery of Literature Supported TFs in the Top 13 Results</a:t>
            </a:r>
            <a:endParaRPr sz="1500">
              <a:solidFill>
                <a:schemeClr val="dk2"/>
              </a:solidFill>
              <a:latin typeface="DM Sans"/>
              <a:ea typeface="DM Sans"/>
              <a:cs typeface="DM Sans"/>
              <a:sym typeface="DM Sans"/>
            </a:endParaRPr>
          </a:p>
          <a:p>
            <a:pPr indent="0" lvl="0" marL="0" rtl="0" algn="ctr">
              <a:spcBef>
                <a:spcPts val="0"/>
              </a:spcBef>
              <a:spcAft>
                <a:spcPts val="0"/>
              </a:spcAft>
              <a:buNone/>
            </a:pPr>
            <a:r>
              <a:t/>
            </a:r>
            <a:endParaRPr sz="1600">
              <a:solidFill>
                <a:schemeClr val="dk2"/>
              </a:solidFill>
              <a:latin typeface="DM Sans"/>
              <a:ea typeface="DM Sans"/>
              <a:cs typeface="DM Sans"/>
              <a:sym typeface="DM Sans"/>
            </a:endParaRPr>
          </a:p>
        </p:txBody>
      </p:sp>
      <p:graphicFrame>
        <p:nvGraphicFramePr>
          <p:cNvPr id="557" name="Google Shape;557;p52"/>
          <p:cNvGraphicFramePr/>
          <p:nvPr/>
        </p:nvGraphicFramePr>
        <p:xfrm>
          <a:off x="4719213" y="1116488"/>
          <a:ext cx="3000000" cy="3000000"/>
        </p:xfrm>
        <a:graphic>
          <a:graphicData uri="http://schemas.openxmlformats.org/drawingml/2006/table">
            <a:tbl>
              <a:tblPr>
                <a:noFill/>
                <a:tableStyleId>{53F3B15C-0D32-441E-9DF2-4AB083E585C5}</a:tableStyleId>
              </a:tblPr>
              <a:tblGrid>
                <a:gridCol w="1382050"/>
                <a:gridCol w="1254300"/>
                <a:gridCol w="1318200"/>
              </a:tblGrid>
              <a:tr h="357925">
                <a:tc>
                  <a:txBody>
                    <a:bodyPr/>
                    <a:lstStyle/>
                    <a:p>
                      <a:pPr indent="0" lvl="0" marL="0" rtl="0" algn="ctr">
                        <a:spcBef>
                          <a:spcPts val="0"/>
                        </a:spcBef>
                        <a:spcAft>
                          <a:spcPts val="0"/>
                        </a:spcAft>
                        <a:buNone/>
                      </a:pPr>
                      <a:r>
                        <a:rPr b="1" lang="en"/>
                        <a:t>Pipeline</a:t>
                      </a:r>
                      <a:endParaRPr b="1"/>
                    </a:p>
                  </a:txBody>
                  <a:tcPr marT="91425" marB="91425" marR="91425" marL="91425"/>
                </a:tc>
                <a:tc>
                  <a:txBody>
                    <a:bodyPr/>
                    <a:lstStyle/>
                    <a:p>
                      <a:pPr indent="0" lvl="0" marL="0" rtl="0" algn="ctr">
                        <a:spcBef>
                          <a:spcPts val="0"/>
                        </a:spcBef>
                        <a:spcAft>
                          <a:spcPts val="0"/>
                        </a:spcAft>
                        <a:buNone/>
                      </a:pPr>
                      <a:r>
                        <a:rPr b="1" lang="en"/>
                        <a:t>K562</a:t>
                      </a:r>
                      <a:endParaRPr b="1"/>
                    </a:p>
                  </a:txBody>
                  <a:tcPr marT="91425" marB="91425" marR="91425" marL="91425"/>
                </a:tc>
                <a:tc>
                  <a:txBody>
                    <a:bodyPr/>
                    <a:lstStyle/>
                    <a:p>
                      <a:pPr indent="0" lvl="0" marL="0" rtl="0" algn="ctr">
                        <a:spcBef>
                          <a:spcPts val="0"/>
                        </a:spcBef>
                        <a:spcAft>
                          <a:spcPts val="0"/>
                        </a:spcAft>
                        <a:buNone/>
                      </a:pPr>
                      <a:r>
                        <a:rPr b="1" lang="en"/>
                        <a:t>MCF7</a:t>
                      </a:r>
                      <a:endParaRPr b="1"/>
                    </a:p>
                  </a:txBody>
                  <a:tcPr marT="91425" marB="91425" marR="91425" marL="91425"/>
                </a:tc>
              </a:tr>
              <a:tr h="743425">
                <a:tc>
                  <a:txBody>
                    <a:bodyPr/>
                    <a:lstStyle/>
                    <a:p>
                      <a:pPr indent="0" lvl="0" marL="0" rtl="0" algn="ctr">
                        <a:spcBef>
                          <a:spcPts val="0"/>
                        </a:spcBef>
                        <a:spcAft>
                          <a:spcPts val="0"/>
                        </a:spcAft>
                        <a:buNone/>
                      </a:pPr>
                      <a:r>
                        <a:rPr b="1" lang="en" sz="1200"/>
                        <a:t>d</a:t>
                      </a:r>
                      <a:r>
                        <a:rPr b="1" lang="en" sz="1200"/>
                        <a:t>iffTF</a:t>
                      </a:r>
                      <a:endParaRPr b="1" sz="1200"/>
                    </a:p>
                  </a:txBody>
                  <a:tcPr marT="91425" marB="91425" marR="91425" marL="91425"/>
                </a:tc>
                <a:tc>
                  <a:txBody>
                    <a:bodyPr/>
                    <a:lstStyle/>
                    <a:p>
                      <a:pPr indent="0" lvl="0" marL="0" rtl="0" algn="ctr">
                        <a:spcBef>
                          <a:spcPts val="0"/>
                        </a:spcBef>
                        <a:spcAft>
                          <a:spcPts val="0"/>
                        </a:spcAft>
                        <a:buClr>
                          <a:schemeClr val="hlink"/>
                        </a:buClr>
                        <a:buSzPts val="1100"/>
                        <a:buFont typeface="Arial"/>
                        <a:buNone/>
                      </a:pPr>
                      <a:r>
                        <a:rPr lang="en" sz="1200">
                          <a:solidFill>
                            <a:schemeClr val="hlink"/>
                          </a:solidFill>
                        </a:rPr>
                        <a:t>GATA1</a:t>
                      </a:r>
                      <a:r>
                        <a:rPr baseline="30000" lang="en" sz="1200">
                          <a:solidFill>
                            <a:schemeClr val="hlink"/>
                          </a:solidFill>
                        </a:rPr>
                        <a:t>7</a:t>
                      </a:r>
                      <a:r>
                        <a:rPr lang="en" sz="1200">
                          <a:solidFill>
                            <a:schemeClr val="hlink"/>
                          </a:solidFill>
                        </a:rPr>
                        <a:t>, GATA2</a:t>
                      </a:r>
                      <a:r>
                        <a:rPr baseline="30000" lang="en" sz="1200">
                          <a:solidFill>
                            <a:schemeClr val="hlink"/>
                          </a:solidFill>
                        </a:rPr>
                        <a:t>8</a:t>
                      </a:r>
                      <a:r>
                        <a:rPr lang="en" sz="1200">
                          <a:solidFill>
                            <a:schemeClr val="hlink"/>
                          </a:solidFill>
                        </a:rPr>
                        <a:t>, TAL1</a:t>
                      </a:r>
                      <a:r>
                        <a:rPr baseline="30000" lang="en" sz="1200">
                          <a:solidFill>
                            <a:schemeClr val="hlink"/>
                          </a:solidFill>
                        </a:rPr>
                        <a:t>7</a:t>
                      </a:r>
                      <a:r>
                        <a:rPr lang="en" sz="1200">
                          <a:solidFill>
                            <a:schemeClr val="hlink"/>
                          </a:solidFill>
                        </a:rPr>
                        <a:t>, KLF1</a:t>
                      </a:r>
                      <a:r>
                        <a:rPr baseline="30000" lang="en" sz="1200">
                          <a:solidFill>
                            <a:schemeClr val="hlink"/>
                          </a:solidFill>
                        </a:rPr>
                        <a:t>9</a:t>
                      </a:r>
                      <a:endParaRPr baseline="30000" sz="1200"/>
                    </a:p>
                  </a:txBody>
                  <a:tcPr marT="91425" marB="91425" marR="91425" marL="91425"/>
                </a:tc>
                <a:tc>
                  <a:txBody>
                    <a:bodyPr/>
                    <a:lstStyle/>
                    <a:p>
                      <a:pPr indent="0" lvl="0" marL="0" rtl="0" algn="ctr">
                        <a:spcBef>
                          <a:spcPts val="0"/>
                        </a:spcBef>
                        <a:spcAft>
                          <a:spcPts val="0"/>
                        </a:spcAft>
                        <a:buNone/>
                      </a:pPr>
                      <a:r>
                        <a:rPr lang="en" sz="1200"/>
                        <a:t>FOXA1</a:t>
                      </a:r>
                      <a:r>
                        <a:rPr baseline="30000" lang="en" sz="1200"/>
                        <a:t>10</a:t>
                      </a:r>
                      <a:r>
                        <a:rPr lang="en" sz="1200"/>
                        <a:t>, GRHL2</a:t>
                      </a:r>
                      <a:r>
                        <a:rPr baseline="30000" lang="en" sz="1200"/>
                        <a:t>11</a:t>
                      </a:r>
                      <a:endParaRPr baseline="30000" sz="1200"/>
                    </a:p>
                  </a:txBody>
                  <a:tcPr marT="91425" marB="91425" marR="91425" marL="91425"/>
                </a:tc>
              </a:tr>
              <a:tr h="357925">
                <a:tc>
                  <a:txBody>
                    <a:bodyPr/>
                    <a:lstStyle/>
                    <a:p>
                      <a:pPr indent="0" lvl="0" marL="0" rtl="0" algn="ctr">
                        <a:spcBef>
                          <a:spcPts val="0"/>
                        </a:spcBef>
                        <a:spcAft>
                          <a:spcPts val="0"/>
                        </a:spcAft>
                        <a:buNone/>
                      </a:pPr>
                      <a:r>
                        <a:rPr b="1" lang="en" sz="1200"/>
                        <a:t>n</a:t>
                      </a:r>
                      <a:r>
                        <a:rPr b="1" lang="en" sz="1200"/>
                        <a:t>f-core/tfactivity</a:t>
                      </a:r>
                      <a:endParaRPr b="1" sz="1200"/>
                    </a:p>
                  </a:txBody>
                  <a:tcPr marT="91425" marB="91425" marR="91425" marL="91425"/>
                </a:tc>
                <a:tc>
                  <a:txBody>
                    <a:bodyPr/>
                    <a:lstStyle/>
                    <a:p>
                      <a:pPr indent="0" lvl="0" marL="0" rtl="0" algn="ctr">
                        <a:spcBef>
                          <a:spcPts val="0"/>
                        </a:spcBef>
                        <a:spcAft>
                          <a:spcPts val="0"/>
                        </a:spcAft>
                        <a:buNone/>
                      </a:pPr>
                      <a:r>
                        <a:rPr lang="en" sz="1200"/>
                        <a:t>KLF1</a:t>
                      </a:r>
                      <a:r>
                        <a:rPr baseline="30000" lang="en" sz="1200"/>
                        <a:t>9</a:t>
                      </a:r>
                      <a:endParaRPr baseline="30000" sz="1200"/>
                    </a:p>
                  </a:txBody>
                  <a:tcPr marT="91425" marB="91425" marR="91425" marL="91425"/>
                </a:tc>
                <a:tc>
                  <a:txBody>
                    <a:bodyPr/>
                    <a:lstStyle/>
                    <a:p>
                      <a:pPr indent="0" lvl="0" marL="0" rtl="0" algn="ctr">
                        <a:spcBef>
                          <a:spcPts val="0"/>
                        </a:spcBef>
                        <a:spcAft>
                          <a:spcPts val="0"/>
                        </a:spcAft>
                        <a:buNone/>
                      </a:pPr>
                      <a:r>
                        <a:rPr lang="en" sz="1200"/>
                        <a:t>NFATC3</a:t>
                      </a:r>
                      <a:r>
                        <a:rPr baseline="30000" lang="en" sz="1200"/>
                        <a:t>16</a:t>
                      </a:r>
                      <a:r>
                        <a:rPr lang="en" sz="1200"/>
                        <a:t>, NFIX</a:t>
                      </a:r>
                      <a:r>
                        <a:rPr baseline="30000" lang="en" sz="1200"/>
                        <a:t>17</a:t>
                      </a:r>
                      <a:r>
                        <a:rPr lang="en" sz="1200"/>
                        <a:t>, ELF3</a:t>
                      </a:r>
                      <a:r>
                        <a:rPr baseline="30000" lang="en" sz="1200"/>
                        <a:t>15</a:t>
                      </a:r>
                      <a:endParaRPr baseline="30000" sz="1200"/>
                    </a:p>
                  </a:txBody>
                  <a:tcPr marT="91425" marB="91425" marR="91425" marL="91425"/>
                </a:tc>
              </a:tr>
              <a:tr h="403975">
                <a:tc>
                  <a:txBody>
                    <a:bodyPr/>
                    <a:lstStyle/>
                    <a:p>
                      <a:pPr indent="0" lvl="0" marL="0" rtl="0" algn="ctr">
                        <a:spcBef>
                          <a:spcPts val="0"/>
                        </a:spcBef>
                        <a:spcAft>
                          <a:spcPts val="0"/>
                        </a:spcAft>
                        <a:buNone/>
                      </a:pPr>
                      <a:r>
                        <a:rPr b="1" lang="en" sz="1200"/>
                        <a:t>TF-Prioritizer</a:t>
                      </a:r>
                      <a:endParaRPr b="1" sz="1200"/>
                    </a:p>
                  </a:txBody>
                  <a:tcPr marT="91425" marB="91425" marR="91425" marL="91425"/>
                </a:tc>
                <a:tc>
                  <a:txBody>
                    <a:bodyPr/>
                    <a:lstStyle/>
                    <a:p>
                      <a:pPr indent="0" lvl="0" marL="0" rtl="0" algn="ctr">
                        <a:spcBef>
                          <a:spcPts val="0"/>
                        </a:spcBef>
                        <a:spcAft>
                          <a:spcPts val="0"/>
                        </a:spcAft>
                        <a:buNone/>
                      </a:pPr>
                      <a:r>
                        <a:rPr lang="en" sz="1200"/>
                        <a:t>CTCFL</a:t>
                      </a:r>
                      <a:r>
                        <a:rPr baseline="30000" lang="en" sz="1200"/>
                        <a:t>12</a:t>
                      </a:r>
                      <a:r>
                        <a:rPr lang="en" sz="1200"/>
                        <a:t>, PLAG1</a:t>
                      </a:r>
                      <a:r>
                        <a:rPr baseline="30000" lang="en" sz="1200"/>
                        <a:t>13</a:t>
                      </a:r>
                      <a:endParaRPr baseline="30000" sz="1200"/>
                    </a:p>
                  </a:txBody>
                  <a:tcPr marT="91425" marB="91425" marR="91425" marL="91425"/>
                </a:tc>
                <a:tc>
                  <a:txBody>
                    <a:bodyPr/>
                    <a:lstStyle/>
                    <a:p>
                      <a:pPr indent="0" lvl="0" marL="0" rtl="0" algn="ctr">
                        <a:spcBef>
                          <a:spcPts val="0"/>
                        </a:spcBef>
                        <a:spcAft>
                          <a:spcPts val="0"/>
                        </a:spcAft>
                        <a:buNone/>
                      </a:pPr>
                      <a:r>
                        <a:rPr lang="en" sz="1200"/>
                        <a:t>HOXA10</a:t>
                      </a:r>
                      <a:r>
                        <a:rPr baseline="30000" lang="en" sz="1200"/>
                        <a:t>14</a:t>
                      </a:r>
                      <a:endParaRPr baseline="30000" sz="1200"/>
                    </a:p>
                  </a:txBody>
                  <a:tcPr marT="91425" marB="91425" marR="91425" marL="91425"/>
                </a:tc>
              </a:tr>
              <a:tr h="403975">
                <a:tc>
                  <a:txBody>
                    <a:bodyPr/>
                    <a:lstStyle/>
                    <a:p>
                      <a:pPr indent="0" lvl="0" marL="0" rtl="0" algn="ctr">
                        <a:spcBef>
                          <a:spcPts val="0"/>
                        </a:spcBef>
                        <a:spcAft>
                          <a:spcPts val="0"/>
                        </a:spcAft>
                        <a:buNone/>
                      </a:pPr>
                      <a:r>
                        <a:rPr b="1" lang="en" sz="1200"/>
                        <a:t>Not reported</a:t>
                      </a:r>
                      <a:endParaRPr b="1" sz="1200"/>
                    </a:p>
                  </a:txBody>
                  <a:tcPr marT="91425" marB="91425" marR="91425" marL="91425"/>
                </a:tc>
                <a:tc>
                  <a:txBody>
                    <a:bodyPr/>
                    <a:lstStyle/>
                    <a:p>
                      <a:pPr indent="0" lvl="0" marL="0" rtl="0" algn="ctr">
                        <a:spcBef>
                          <a:spcPts val="0"/>
                        </a:spcBef>
                        <a:spcAft>
                          <a:spcPts val="0"/>
                        </a:spcAft>
                        <a:buNone/>
                      </a:pPr>
                      <a:r>
                        <a:rPr lang="en" sz="1200"/>
                        <a:t>RUNX1</a:t>
                      </a:r>
                      <a:r>
                        <a:rPr baseline="30000" lang="en" sz="1200"/>
                        <a:t>9</a:t>
                      </a:r>
                      <a:endParaRPr baseline="30000" sz="1200"/>
                    </a:p>
                  </a:txBody>
                  <a:tcPr marT="91425" marB="91425" marR="91425" marL="91425"/>
                </a:tc>
                <a:tc>
                  <a:txBody>
                    <a:bodyPr/>
                    <a:lstStyle/>
                    <a:p>
                      <a:pPr indent="0" lvl="0" marL="0" rtl="0" algn="ctr">
                        <a:spcBef>
                          <a:spcPts val="0"/>
                        </a:spcBef>
                        <a:spcAft>
                          <a:spcPts val="0"/>
                        </a:spcAft>
                        <a:buNone/>
                      </a:pPr>
                      <a:r>
                        <a:rPr lang="en" sz="1200"/>
                        <a:t>ESR1</a:t>
                      </a:r>
                      <a:r>
                        <a:rPr baseline="30000" lang="en" sz="1200"/>
                        <a:t>10</a:t>
                      </a:r>
                      <a:endParaRPr baseline="30000" sz="1200"/>
                    </a:p>
                  </a:txBody>
                  <a:tcPr marT="91425" marB="91425" marR="91425" marL="91425"/>
                </a:tc>
              </a:tr>
            </a:tbl>
          </a:graphicData>
        </a:graphic>
      </p:graphicFrame>
      <p:pic>
        <p:nvPicPr>
          <p:cNvPr id="558" name="Google Shape;558;p52"/>
          <p:cNvPicPr preferRelativeResize="0"/>
          <p:nvPr/>
        </p:nvPicPr>
        <p:blipFill>
          <a:blip r:embed="rId3">
            <a:alphaModFix/>
          </a:blip>
          <a:stretch>
            <a:fillRect/>
          </a:stretch>
        </p:blipFill>
        <p:spPr>
          <a:xfrm>
            <a:off x="168700" y="865138"/>
            <a:ext cx="4177049" cy="3778025"/>
          </a:xfrm>
          <a:prstGeom prst="rect">
            <a:avLst/>
          </a:prstGeom>
          <a:noFill/>
          <a:ln>
            <a:noFill/>
          </a:ln>
        </p:spPr>
      </p:pic>
      <p:sp>
        <p:nvSpPr>
          <p:cNvPr id="559" name="Google Shape;559;p52"/>
          <p:cNvSpPr txBox="1"/>
          <p:nvPr/>
        </p:nvSpPr>
        <p:spPr>
          <a:xfrm>
            <a:off x="4814900" y="3905369"/>
            <a:ext cx="3763200" cy="123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2"/>
                </a:solidFill>
                <a:latin typeface="DM Sans"/>
                <a:ea typeface="DM Sans"/>
                <a:cs typeface="DM Sans"/>
                <a:sym typeface="DM Sans"/>
              </a:rPr>
              <a:t>Selection criteria: TFs </a:t>
            </a:r>
            <a:r>
              <a:rPr lang="en" sz="1300">
                <a:solidFill>
                  <a:schemeClr val="dk2"/>
                </a:solidFill>
                <a:latin typeface="DM Sans"/>
                <a:ea typeface="DM Sans"/>
                <a:cs typeface="DM Sans"/>
                <a:sym typeface="DM Sans"/>
              </a:rPr>
              <a:t>were selected from the combined top 13 results if literature supported their association with K562 or MCF7. RUNX1 and ESR1 were included as examples that weren’t reported.</a:t>
            </a:r>
            <a:endParaRPr sz="1300">
              <a:solidFill>
                <a:schemeClr val="dk2"/>
              </a:solidFill>
              <a:latin typeface="DM Sans"/>
              <a:ea typeface="DM Sans"/>
              <a:cs typeface="DM Sans"/>
              <a:sym typeface="DM Sans"/>
            </a:endParaRPr>
          </a:p>
        </p:txBody>
      </p:sp>
      <p:sp>
        <p:nvSpPr>
          <p:cNvPr id="560" name="Google Shape;560;p52"/>
          <p:cNvSpPr txBox="1"/>
          <p:nvPr/>
        </p:nvSpPr>
        <p:spPr>
          <a:xfrm>
            <a:off x="5228533" y="3671943"/>
            <a:ext cx="3846300" cy="13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2"/>
                </a:solidFill>
                <a:latin typeface="DM Sans"/>
                <a:ea typeface="DM Sans"/>
                <a:cs typeface="DM Sans"/>
                <a:sym typeface="DM Sans"/>
              </a:rPr>
              <a:t>Superscripts correspond to references 7–17 on the References slide.</a:t>
            </a:r>
            <a:endParaRPr sz="700">
              <a:solidFill>
                <a:schemeClr val="dk2"/>
              </a:solidFill>
              <a:latin typeface="DM Sans"/>
              <a:ea typeface="DM Sans"/>
              <a:cs typeface="DM Sans"/>
              <a:sym typeface="DM Sans"/>
            </a:endParaRPr>
          </a:p>
        </p:txBody>
      </p:sp>
      <p:sp>
        <p:nvSpPr>
          <p:cNvPr id="561" name="Google Shape;561;p52"/>
          <p:cNvSpPr txBox="1"/>
          <p:nvPr/>
        </p:nvSpPr>
        <p:spPr>
          <a:xfrm>
            <a:off x="8862550" y="4836650"/>
            <a:ext cx="224400" cy="23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9</a:t>
            </a:r>
            <a:endParaRPr sz="1000">
              <a:solidFill>
                <a:schemeClr val="dk2"/>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3"/>
          <p:cNvSpPr txBox="1"/>
          <p:nvPr/>
        </p:nvSpPr>
        <p:spPr>
          <a:xfrm>
            <a:off x="168700" y="139425"/>
            <a:ext cx="8778000" cy="6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Practical Results</a:t>
            </a:r>
            <a:endParaRPr sz="3000">
              <a:solidFill>
                <a:schemeClr val="dk2"/>
              </a:solidFill>
              <a:latin typeface="DM Sans"/>
              <a:ea typeface="DM Sans"/>
              <a:cs typeface="DM Sans"/>
              <a:sym typeface="DM Sans"/>
            </a:endParaRPr>
          </a:p>
        </p:txBody>
      </p:sp>
      <p:graphicFrame>
        <p:nvGraphicFramePr>
          <p:cNvPr id="567" name="Google Shape;567;p53"/>
          <p:cNvGraphicFramePr/>
          <p:nvPr/>
        </p:nvGraphicFramePr>
        <p:xfrm>
          <a:off x="1266100" y="1138625"/>
          <a:ext cx="3000000" cy="3000000"/>
        </p:xfrm>
        <a:graphic>
          <a:graphicData uri="http://schemas.openxmlformats.org/drawingml/2006/table">
            <a:tbl>
              <a:tblPr>
                <a:noFill/>
                <a:tableStyleId>{53F3B15C-0D32-441E-9DF2-4AB083E585C5}</a:tableStyleId>
              </a:tblPr>
              <a:tblGrid>
                <a:gridCol w="1652950"/>
                <a:gridCol w="1652950"/>
                <a:gridCol w="1652950"/>
                <a:gridCol w="1652950"/>
              </a:tblGrid>
              <a:tr h="679800">
                <a:tc>
                  <a:txBody>
                    <a:bodyPr/>
                    <a:lstStyle/>
                    <a:p>
                      <a:pPr indent="0" lvl="0" marL="0" rtl="0" algn="ctr">
                        <a:spcBef>
                          <a:spcPts val="0"/>
                        </a:spcBef>
                        <a:spcAft>
                          <a:spcPts val="0"/>
                        </a:spcAft>
                        <a:buNone/>
                      </a:pPr>
                      <a:r>
                        <a:rPr lang="en"/>
                        <a:t>Pipeline</a:t>
                      </a:r>
                      <a:endParaRPr/>
                    </a:p>
                  </a:txBody>
                  <a:tcPr marT="91425" marB="91425" marR="91425" marL="91425"/>
                </a:tc>
                <a:tc>
                  <a:txBody>
                    <a:bodyPr/>
                    <a:lstStyle/>
                    <a:p>
                      <a:pPr indent="0" lvl="0" marL="0" rtl="0" algn="ctr">
                        <a:spcBef>
                          <a:spcPts val="0"/>
                        </a:spcBef>
                        <a:spcAft>
                          <a:spcPts val="0"/>
                        </a:spcAft>
                        <a:buNone/>
                      </a:pPr>
                      <a:r>
                        <a:rPr lang="en"/>
                        <a:t>Runtime</a:t>
                      </a:r>
                      <a:endParaRPr/>
                    </a:p>
                  </a:txBody>
                  <a:tcPr marT="91425" marB="91425" marR="91425" marL="91425"/>
                </a:tc>
                <a:tc>
                  <a:txBody>
                    <a:bodyPr/>
                    <a:lstStyle/>
                    <a:p>
                      <a:pPr indent="0" lvl="0" marL="0" rtl="0" algn="ctr">
                        <a:spcBef>
                          <a:spcPts val="0"/>
                        </a:spcBef>
                        <a:spcAft>
                          <a:spcPts val="0"/>
                        </a:spcAft>
                        <a:buNone/>
                      </a:pPr>
                      <a:r>
                        <a:rPr lang="en"/>
                        <a:t>Storage</a:t>
                      </a:r>
                      <a:endParaRPr/>
                    </a:p>
                  </a:txBody>
                  <a:tcPr marT="91425" marB="91425" marR="91425" marL="91425"/>
                </a:tc>
                <a:tc>
                  <a:txBody>
                    <a:bodyPr/>
                    <a:lstStyle/>
                    <a:p>
                      <a:pPr indent="0" lvl="0" marL="0" rtl="0" algn="ctr">
                        <a:spcBef>
                          <a:spcPts val="0"/>
                        </a:spcBef>
                        <a:spcAft>
                          <a:spcPts val="0"/>
                        </a:spcAft>
                        <a:buNone/>
                      </a:pPr>
                      <a:r>
                        <a:rPr lang="en"/>
                        <a:t>Output</a:t>
                      </a:r>
                      <a:endParaRPr/>
                    </a:p>
                  </a:txBody>
                  <a:tcPr marT="91425" marB="91425" marR="91425" marL="91425"/>
                </a:tc>
              </a:tr>
              <a:tr h="753325">
                <a:tc>
                  <a:txBody>
                    <a:bodyPr/>
                    <a:lstStyle/>
                    <a:p>
                      <a:pPr indent="0" lvl="0" marL="0" rtl="0" algn="ctr">
                        <a:spcBef>
                          <a:spcPts val="0"/>
                        </a:spcBef>
                        <a:spcAft>
                          <a:spcPts val="0"/>
                        </a:spcAft>
                        <a:buNone/>
                      </a:pPr>
                      <a:r>
                        <a:rPr lang="en"/>
                        <a:t>nf-core/tfactivity</a:t>
                      </a:r>
                      <a:endParaRPr/>
                    </a:p>
                  </a:txBody>
                  <a:tcPr marT="91425" marB="91425" marR="91425" marL="91425"/>
                </a:tc>
                <a:tc>
                  <a:txBody>
                    <a:bodyPr/>
                    <a:lstStyle/>
                    <a:p>
                      <a:pPr indent="0" lvl="0" marL="0" rtl="0" algn="ctr">
                        <a:spcBef>
                          <a:spcPts val="0"/>
                        </a:spcBef>
                        <a:spcAft>
                          <a:spcPts val="0"/>
                        </a:spcAft>
                        <a:buNone/>
                      </a:pPr>
                      <a:r>
                        <a:rPr lang="en"/>
                        <a:t>17h 46min</a:t>
                      </a:r>
                      <a:endParaRPr/>
                    </a:p>
                  </a:txBody>
                  <a:tcPr marT="91425" marB="91425" marR="91425" marL="91425"/>
                </a:tc>
                <a:tc>
                  <a:txBody>
                    <a:bodyPr/>
                    <a:lstStyle/>
                    <a:p>
                      <a:pPr indent="0" lvl="0" marL="0" rtl="0" algn="ctr">
                        <a:spcBef>
                          <a:spcPts val="0"/>
                        </a:spcBef>
                        <a:spcAft>
                          <a:spcPts val="0"/>
                        </a:spcAft>
                        <a:buNone/>
                      </a:pPr>
                      <a:r>
                        <a:rPr lang="en"/>
                        <a:t>3.9GB</a:t>
                      </a:r>
                      <a:endParaRPr/>
                    </a:p>
                  </a:txBody>
                  <a:tcPr marT="91425" marB="91425" marR="91425" marL="91425"/>
                </a:tc>
                <a:tc>
                  <a:txBody>
                    <a:bodyPr/>
                    <a:lstStyle/>
                    <a:p>
                      <a:pPr indent="0" lvl="0" marL="0" rtl="0" algn="ctr">
                        <a:spcBef>
                          <a:spcPts val="0"/>
                        </a:spcBef>
                        <a:spcAft>
                          <a:spcPts val="0"/>
                        </a:spcAft>
                        <a:buNone/>
                      </a:pPr>
                      <a:r>
                        <a:rPr lang="en"/>
                        <a:t>Interactive HTML Report</a:t>
                      </a:r>
                      <a:endParaRPr/>
                    </a:p>
                  </a:txBody>
                  <a:tcPr marT="91425" marB="91425" marR="91425" marL="91425"/>
                </a:tc>
              </a:tr>
              <a:tr h="753325">
                <a:tc>
                  <a:txBody>
                    <a:bodyPr/>
                    <a:lstStyle/>
                    <a:p>
                      <a:pPr indent="0" lvl="0" marL="0" rtl="0" algn="ctr">
                        <a:spcBef>
                          <a:spcPts val="0"/>
                        </a:spcBef>
                        <a:spcAft>
                          <a:spcPts val="0"/>
                        </a:spcAft>
                        <a:buNone/>
                      </a:pPr>
                      <a:r>
                        <a:rPr lang="en"/>
                        <a:t>TF-Prioritizer</a:t>
                      </a:r>
                      <a:endParaRPr/>
                    </a:p>
                  </a:txBody>
                  <a:tcPr marT="91425" marB="91425" marR="91425" marL="91425"/>
                </a:tc>
                <a:tc>
                  <a:txBody>
                    <a:bodyPr/>
                    <a:lstStyle/>
                    <a:p>
                      <a:pPr indent="0" lvl="0" marL="0" rtl="0" algn="ctr">
                        <a:spcBef>
                          <a:spcPts val="0"/>
                        </a:spcBef>
                        <a:spcAft>
                          <a:spcPts val="0"/>
                        </a:spcAft>
                        <a:buNone/>
                      </a:pPr>
                      <a:r>
                        <a:rPr lang="en"/>
                        <a:t>20h 41min</a:t>
                      </a:r>
                      <a:endParaRPr/>
                    </a:p>
                  </a:txBody>
                  <a:tcPr marT="91425" marB="91425" marR="91425" marL="91425"/>
                </a:tc>
                <a:tc>
                  <a:txBody>
                    <a:bodyPr/>
                    <a:lstStyle/>
                    <a:p>
                      <a:pPr indent="0" lvl="0" marL="0" rtl="0" algn="ctr">
                        <a:spcBef>
                          <a:spcPts val="0"/>
                        </a:spcBef>
                        <a:spcAft>
                          <a:spcPts val="0"/>
                        </a:spcAft>
                        <a:buNone/>
                      </a:pPr>
                      <a:r>
                        <a:rPr lang="en"/>
                        <a:t>48GB</a:t>
                      </a:r>
                      <a:endParaRPr/>
                    </a:p>
                  </a:txBody>
                  <a:tcPr marT="91425" marB="91425" marR="91425" marL="91425"/>
                </a:tc>
                <a:tc>
                  <a:txBody>
                    <a:bodyPr/>
                    <a:lstStyle/>
                    <a:p>
                      <a:pPr indent="0" lvl="0" marL="0" rtl="0" algn="ctr">
                        <a:spcBef>
                          <a:spcPts val="0"/>
                        </a:spcBef>
                        <a:spcAft>
                          <a:spcPts val="0"/>
                        </a:spcAft>
                        <a:buNone/>
                      </a:pPr>
                      <a:r>
                        <a:rPr lang="en"/>
                        <a:t>Interactive HTML Report</a:t>
                      </a:r>
                      <a:endParaRPr/>
                    </a:p>
                  </a:txBody>
                  <a:tcPr marT="91425" marB="91425" marR="91425" marL="91425"/>
                </a:tc>
              </a:tr>
              <a:tr h="679800">
                <a:tc>
                  <a:txBody>
                    <a:bodyPr/>
                    <a:lstStyle/>
                    <a:p>
                      <a:pPr indent="0" lvl="0" marL="0" rtl="0" algn="ctr">
                        <a:spcBef>
                          <a:spcPts val="0"/>
                        </a:spcBef>
                        <a:spcAft>
                          <a:spcPts val="0"/>
                        </a:spcAft>
                        <a:buNone/>
                      </a:pPr>
                      <a:r>
                        <a:rPr lang="en"/>
                        <a:t>diffTF</a:t>
                      </a:r>
                      <a:endParaRPr/>
                    </a:p>
                  </a:txBody>
                  <a:tcPr marT="91425" marB="91425" marR="91425" marL="91425"/>
                </a:tc>
                <a:tc>
                  <a:txBody>
                    <a:bodyPr/>
                    <a:lstStyle/>
                    <a:p>
                      <a:pPr indent="0" lvl="0" marL="0" rtl="0" algn="ctr">
                        <a:spcBef>
                          <a:spcPts val="0"/>
                        </a:spcBef>
                        <a:spcAft>
                          <a:spcPts val="0"/>
                        </a:spcAft>
                        <a:buNone/>
                      </a:pPr>
                      <a:r>
                        <a:rPr lang="en"/>
                        <a:t>80h 39min</a:t>
                      </a:r>
                      <a:endParaRPr/>
                    </a:p>
                  </a:txBody>
                  <a:tcPr marT="91425" marB="91425" marR="91425" marL="91425"/>
                </a:tc>
                <a:tc>
                  <a:txBody>
                    <a:bodyPr/>
                    <a:lstStyle/>
                    <a:p>
                      <a:pPr indent="0" lvl="0" marL="0" rtl="0" algn="ctr">
                        <a:spcBef>
                          <a:spcPts val="0"/>
                        </a:spcBef>
                        <a:spcAft>
                          <a:spcPts val="0"/>
                        </a:spcAft>
                        <a:buNone/>
                      </a:pPr>
                      <a:r>
                        <a:rPr lang="en"/>
                        <a:t>9.1GB</a:t>
                      </a:r>
                      <a:endParaRPr/>
                    </a:p>
                  </a:txBody>
                  <a:tcPr marT="91425" marB="91425" marR="91425" marL="91425"/>
                </a:tc>
                <a:tc>
                  <a:txBody>
                    <a:bodyPr/>
                    <a:lstStyle/>
                    <a:p>
                      <a:pPr indent="0" lvl="0" marL="0" rtl="0" algn="ctr">
                        <a:spcBef>
                          <a:spcPts val="0"/>
                        </a:spcBef>
                        <a:spcAft>
                          <a:spcPts val="0"/>
                        </a:spcAft>
                        <a:buNone/>
                      </a:pPr>
                      <a:r>
                        <a:rPr lang="en"/>
                        <a:t>TSV Tables and PDF Plots</a:t>
                      </a:r>
                      <a:endParaRPr/>
                    </a:p>
                  </a:txBody>
                  <a:tcPr marT="91425" marB="91425" marR="91425" marL="91425"/>
                </a:tc>
              </a:tr>
            </a:tbl>
          </a:graphicData>
        </a:graphic>
      </p:graphicFrame>
      <p:sp>
        <p:nvSpPr>
          <p:cNvPr id="568" name="Google Shape;568;p53"/>
          <p:cNvSpPr txBox="1"/>
          <p:nvPr/>
        </p:nvSpPr>
        <p:spPr>
          <a:xfrm>
            <a:off x="8778325" y="4821650"/>
            <a:ext cx="3366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10</a:t>
            </a:r>
            <a:endParaRPr sz="1000">
              <a:solidFill>
                <a:schemeClr val="dk2"/>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54"/>
          <p:cNvSpPr txBox="1"/>
          <p:nvPr/>
        </p:nvSpPr>
        <p:spPr>
          <a:xfrm>
            <a:off x="168700" y="139425"/>
            <a:ext cx="8778000" cy="61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Conclusions</a:t>
            </a:r>
            <a:endParaRPr sz="3000">
              <a:solidFill>
                <a:schemeClr val="dk2"/>
              </a:solidFill>
              <a:latin typeface="DM Sans"/>
              <a:ea typeface="DM Sans"/>
              <a:cs typeface="DM Sans"/>
              <a:sym typeface="DM Sans"/>
            </a:endParaRPr>
          </a:p>
        </p:txBody>
      </p:sp>
      <p:sp>
        <p:nvSpPr>
          <p:cNvPr id="574" name="Google Shape;574;p54"/>
          <p:cNvSpPr txBox="1"/>
          <p:nvPr/>
        </p:nvSpPr>
        <p:spPr>
          <a:xfrm>
            <a:off x="197375" y="862625"/>
            <a:ext cx="4069200" cy="32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DM Sans"/>
                <a:ea typeface="DM Sans"/>
                <a:cs typeface="DM Sans"/>
                <a:sym typeface="DM Sans"/>
              </a:rPr>
              <a:t>Biological</a:t>
            </a:r>
            <a:endParaRPr sz="1600">
              <a:solidFill>
                <a:schemeClr val="dk2"/>
              </a:solidFill>
              <a:latin typeface="DM Sans"/>
              <a:ea typeface="DM Sans"/>
              <a:cs typeface="DM Sans"/>
              <a:sym typeface="DM Sans"/>
            </a:endParaRPr>
          </a:p>
          <a:p>
            <a:pPr indent="0" lvl="0" marL="0" rtl="0" algn="l">
              <a:spcBef>
                <a:spcPts val="0"/>
              </a:spcBef>
              <a:spcAft>
                <a:spcPts val="0"/>
              </a:spcAft>
              <a:buNone/>
            </a:pPr>
            <a:r>
              <a:t/>
            </a:r>
            <a:endParaRPr sz="16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The top 13 TF lists from each pipeline did not overlap, showing each pipeline prioritized a different set of TFs</a:t>
            </a:r>
            <a:endParaRPr sz="1500">
              <a:solidFill>
                <a:schemeClr val="dk2"/>
              </a:solidFill>
              <a:latin typeface="DM Sans"/>
              <a:ea typeface="DM Sans"/>
              <a:cs typeface="DM Sans"/>
              <a:sym typeface="DM Sans"/>
            </a:endParaRPr>
          </a:p>
          <a:p>
            <a:pPr indent="0" lvl="0" marL="0" rtl="0" algn="l">
              <a:spcBef>
                <a:spcPts val="0"/>
              </a:spcBef>
              <a:spcAft>
                <a:spcPts val="0"/>
              </a:spcAft>
              <a:buNone/>
            </a:pPr>
            <a:r>
              <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nf-core/tfactivity shared 18 TFs with diffTF, compared with 2 TFs from TF-Prioritizer in their complete list</a:t>
            </a:r>
            <a:endParaRPr sz="1500">
              <a:solidFill>
                <a:schemeClr val="dk2"/>
              </a:solidFill>
              <a:latin typeface="DM Sans"/>
              <a:ea typeface="DM Sans"/>
              <a:cs typeface="DM Sans"/>
              <a:sym typeface="DM Sans"/>
            </a:endParaRPr>
          </a:p>
          <a:p>
            <a:pPr indent="0" lvl="0" marL="0" rtl="0" algn="l">
              <a:spcBef>
                <a:spcPts val="0"/>
              </a:spcBef>
              <a:spcAft>
                <a:spcPts val="0"/>
              </a:spcAft>
              <a:buNone/>
            </a:pPr>
            <a:r>
              <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diffTF recovered the largest number of the selected literature supported TFs but it also reported a larger final list</a:t>
            </a:r>
            <a:endParaRPr sz="1500">
              <a:solidFill>
                <a:schemeClr val="dk2"/>
              </a:solidFill>
              <a:latin typeface="DM Sans"/>
              <a:ea typeface="DM Sans"/>
              <a:cs typeface="DM Sans"/>
              <a:sym typeface="DM Sans"/>
            </a:endParaRPr>
          </a:p>
        </p:txBody>
      </p:sp>
      <p:sp>
        <p:nvSpPr>
          <p:cNvPr id="575" name="Google Shape;575;p54"/>
          <p:cNvSpPr txBox="1"/>
          <p:nvPr/>
        </p:nvSpPr>
        <p:spPr>
          <a:xfrm>
            <a:off x="4572000" y="862625"/>
            <a:ext cx="4069200" cy="326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DM Sans"/>
                <a:ea typeface="DM Sans"/>
                <a:cs typeface="DM Sans"/>
                <a:sym typeface="DM Sans"/>
              </a:rPr>
              <a:t>Technical</a:t>
            </a:r>
            <a:endParaRPr sz="1600">
              <a:solidFill>
                <a:schemeClr val="dk2"/>
              </a:solidFill>
              <a:latin typeface="DM Sans"/>
              <a:ea typeface="DM Sans"/>
              <a:cs typeface="DM Sans"/>
              <a:sym typeface="DM Sans"/>
            </a:endParaRPr>
          </a:p>
          <a:p>
            <a:pPr indent="0" lvl="0" marL="0" rtl="0" algn="l">
              <a:spcBef>
                <a:spcPts val="0"/>
              </a:spcBef>
              <a:spcAft>
                <a:spcPts val="0"/>
              </a:spcAft>
              <a:buNone/>
            </a:pPr>
            <a:r>
              <a:t/>
            </a:r>
            <a:endParaRPr sz="16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nf-core/tfactivity was fastest and </a:t>
            </a:r>
            <a:r>
              <a:rPr lang="en" sz="1500">
                <a:solidFill>
                  <a:schemeClr val="dk2"/>
                </a:solidFill>
                <a:latin typeface="DM Sans"/>
                <a:ea typeface="DM Sans"/>
                <a:cs typeface="DM Sans"/>
                <a:sym typeface="DM Sans"/>
              </a:rPr>
              <a:t>used</a:t>
            </a:r>
            <a:r>
              <a:rPr lang="en" sz="1500">
                <a:solidFill>
                  <a:schemeClr val="dk2"/>
                </a:solidFill>
                <a:latin typeface="DM Sans"/>
                <a:ea typeface="DM Sans"/>
                <a:cs typeface="DM Sans"/>
                <a:sym typeface="DM Sans"/>
              </a:rPr>
              <a:t> the least storage</a:t>
            </a:r>
            <a:endParaRPr sz="1500">
              <a:solidFill>
                <a:schemeClr val="dk2"/>
              </a:solidFill>
              <a:latin typeface="DM Sans"/>
              <a:ea typeface="DM Sans"/>
              <a:cs typeface="DM Sans"/>
              <a:sym typeface="DM Sans"/>
            </a:endParaRPr>
          </a:p>
          <a:p>
            <a:pPr indent="0" lvl="0" marL="0" rtl="0" algn="l">
              <a:spcBef>
                <a:spcPts val="0"/>
              </a:spcBef>
              <a:spcAft>
                <a:spcPts val="0"/>
              </a:spcAft>
              <a:buNone/>
            </a:pPr>
            <a:r>
              <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TF-Prioritizer produced the largest results directory</a:t>
            </a:r>
            <a:endParaRPr sz="1500">
              <a:solidFill>
                <a:schemeClr val="dk2"/>
              </a:solidFill>
              <a:latin typeface="DM Sans"/>
              <a:ea typeface="DM Sans"/>
              <a:cs typeface="DM Sans"/>
              <a:sym typeface="DM Sans"/>
            </a:endParaRPr>
          </a:p>
          <a:p>
            <a:pPr indent="0" lvl="0" marL="0" rtl="0" algn="l">
              <a:spcBef>
                <a:spcPts val="0"/>
              </a:spcBef>
              <a:spcAft>
                <a:spcPts val="0"/>
              </a:spcAft>
              <a:buNone/>
            </a:pPr>
            <a:r>
              <a:t/>
            </a:r>
            <a:endParaRPr sz="1500">
              <a:solidFill>
                <a:schemeClr val="dk2"/>
              </a:solidFill>
              <a:latin typeface="DM Sans"/>
              <a:ea typeface="DM Sans"/>
              <a:cs typeface="DM Sans"/>
              <a:sym typeface="DM Sans"/>
            </a:endParaRPr>
          </a:p>
          <a:p>
            <a:pPr indent="-323850" lvl="0" marL="457200" rtl="0" algn="l">
              <a:spcBef>
                <a:spcPts val="0"/>
              </a:spcBef>
              <a:spcAft>
                <a:spcPts val="0"/>
              </a:spcAft>
              <a:buClr>
                <a:schemeClr val="dk2"/>
              </a:buClr>
              <a:buSzPts val="1500"/>
              <a:buFont typeface="DM Sans"/>
              <a:buChar char="-"/>
            </a:pPr>
            <a:r>
              <a:rPr lang="en" sz="1500">
                <a:solidFill>
                  <a:schemeClr val="dk2"/>
                </a:solidFill>
                <a:latin typeface="DM Sans"/>
                <a:ea typeface="DM Sans"/>
                <a:cs typeface="DM Sans"/>
                <a:sym typeface="DM Sans"/>
              </a:rPr>
              <a:t>diffTF took the longest and required more manual interpretation due to no interactive report</a:t>
            </a:r>
            <a:endParaRPr sz="1500">
              <a:solidFill>
                <a:schemeClr val="dk2"/>
              </a:solidFill>
              <a:latin typeface="DM Sans"/>
              <a:ea typeface="DM Sans"/>
              <a:cs typeface="DM Sans"/>
              <a:sym typeface="DM Sans"/>
            </a:endParaRPr>
          </a:p>
        </p:txBody>
      </p:sp>
      <p:sp>
        <p:nvSpPr>
          <p:cNvPr id="576" name="Google Shape;576;p54"/>
          <p:cNvSpPr txBox="1"/>
          <p:nvPr/>
        </p:nvSpPr>
        <p:spPr>
          <a:xfrm>
            <a:off x="512550" y="4087887"/>
            <a:ext cx="8118900" cy="79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DM Sans"/>
                <a:ea typeface="DM Sans"/>
                <a:cs typeface="DM Sans"/>
                <a:sym typeface="DM Sans"/>
              </a:rPr>
              <a:t>The nf-core/tfactivity pipeline provided practical improvements, but the three pipelines prioritized different TFs. These results suggest that the three pipelines provide different perspectives on TF activity rather than the same predictions.</a:t>
            </a:r>
            <a:endParaRPr sz="1600">
              <a:solidFill>
                <a:schemeClr val="dk2"/>
              </a:solidFill>
              <a:latin typeface="DM Sans"/>
              <a:ea typeface="DM Sans"/>
              <a:cs typeface="DM Sans"/>
              <a:sym typeface="DM Sans"/>
            </a:endParaRPr>
          </a:p>
        </p:txBody>
      </p:sp>
      <p:sp>
        <p:nvSpPr>
          <p:cNvPr id="577" name="Google Shape;577;p54"/>
          <p:cNvSpPr txBox="1"/>
          <p:nvPr/>
        </p:nvSpPr>
        <p:spPr>
          <a:xfrm>
            <a:off x="8778325" y="4821650"/>
            <a:ext cx="3366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11</a:t>
            </a:r>
            <a:endParaRPr sz="1000">
              <a:solidFill>
                <a:schemeClr val="dk2"/>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5"/>
          <p:cNvSpPr txBox="1"/>
          <p:nvPr/>
        </p:nvSpPr>
        <p:spPr>
          <a:xfrm>
            <a:off x="168700" y="139425"/>
            <a:ext cx="8778000" cy="55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Challenges</a:t>
            </a:r>
            <a:endParaRPr sz="3000">
              <a:solidFill>
                <a:schemeClr val="dk2"/>
              </a:solidFill>
              <a:latin typeface="DM Sans"/>
              <a:ea typeface="DM Sans"/>
              <a:cs typeface="DM Sans"/>
              <a:sym typeface="DM Sans"/>
            </a:endParaRPr>
          </a:p>
        </p:txBody>
      </p:sp>
      <p:sp>
        <p:nvSpPr>
          <p:cNvPr id="583" name="Google Shape;583;p55"/>
          <p:cNvSpPr txBox="1"/>
          <p:nvPr/>
        </p:nvSpPr>
        <p:spPr>
          <a:xfrm>
            <a:off x="283975" y="749850"/>
            <a:ext cx="8778000" cy="4068900"/>
          </a:xfrm>
          <a:prstGeom prst="rect">
            <a:avLst/>
          </a:prstGeom>
          <a:noFill/>
          <a:ln>
            <a:noFill/>
          </a:ln>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Different input and configuration requirements across pipelines</a:t>
            </a:r>
            <a:endParaRPr sz="2000">
              <a:solidFill>
                <a:schemeClr val="dk2"/>
              </a:solidFill>
              <a:latin typeface="DM Sans"/>
              <a:ea typeface="DM Sans"/>
              <a:cs typeface="DM Sans"/>
              <a:sym typeface="DM Sans"/>
            </a:endParaRPr>
          </a:p>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Older/Missing software dependencies </a:t>
            </a:r>
            <a:endParaRPr sz="2000">
              <a:solidFill>
                <a:schemeClr val="dk2"/>
              </a:solidFill>
              <a:latin typeface="DM Sans"/>
              <a:ea typeface="DM Sans"/>
              <a:cs typeface="DM Sans"/>
              <a:sym typeface="DM Sans"/>
            </a:endParaRPr>
          </a:p>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Software version incompatibilities</a:t>
            </a:r>
            <a:endParaRPr sz="2000">
              <a:solidFill>
                <a:schemeClr val="dk2"/>
              </a:solidFill>
              <a:latin typeface="DM Sans"/>
              <a:ea typeface="DM Sans"/>
              <a:cs typeface="DM Sans"/>
              <a:sym typeface="DM Sans"/>
            </a:endParaRPr>
          </a:p>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File format and read layout differences </a:t>
            </a:r>
            <a:endParaRPr sz="2000">
              <a:solidFill>
                <a:schemeClr val="dk2"/>
              </a:solidFill>
              <a:latin typeface="DM Sans"/>
              <a:ea typeface="DM Sans"/>
              <a:cs typeface="DM Sans"/>
              <a:sym typeface="DM Sans"/>
            </a:endParaRPr>
          </a:p>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Expanse server availability</a:t>
            </a:r>
            <a:endParaRPr sz="2000">
              <a:solidFill>
                <a:schemeClr val="dk2"/>
              </a:solidFill>
              <a:latin typeface="DM Sans"/>
              <a:ea typeface="DM Sans"/>
              <a:cs typeface="DM Sans"/>
              <a:sym typeface="DM Sans"/>
            </a:endParaRPr>
          </a:p>
          <a:p>
            <a:pPr indent="-355600" lvl="0" marL="457200" rtl="0" algn="l">
              <a:lnSpc>
                <a:spcPct val="150000"/>
              </a:lnSpc>
              <a:spcBef>
                <a:spcPts val="0"/>
              </a:spcBef>
              <a:spcAft>
                <a:spcPts val="0"/>
              </a:spcAft>
              <a:buClr>
                <a:schemeClr val="dk2"/>
              </a:buClr>
              <a:buSzPts val="2000"/>
              <a:buFont typeface="DM Sans"/>
              <a:buChar char="-"/>
            </a:pPr>
            <a:r>
              <a:rPr lang="en" sz="2000">
                <a:solidFill>
                  <a:schemeClr val="dk2"/>
                </a:solidFill>
                <a:latin typeface="DM Sans"/>
                <a:ea typeface="DM Sans"/>
                <a:cs typeface="DM Sans"/>
                <a:sym typeface="DM Sans"/>
              </a:rPr>
              <a:t>Long runtimes and job limits</a:t>
            </a:r>
            <a:endParaRPr sz="2000">
              <a:solidFill>
                <a:schemeClr val="dk2"/>
              </a:solidFill>
              <a:latin typeface="DM Sans"/>
              <a:ea typeface="DM Sans"/>
              <a:cs typeface="DM Sans"/>
              <a:sym typeface="DM Sans"/>
            </a:endParaRPr>
          </a:p>
        </p:txBody>
      </p:sp>
      <p:sp>
        <p:nvSpPr>
          <p:cNvPr id="584" name="Google Shape;584;p55"/>
          <p:cNvSpPr txBox="1"/>
          <p:nvPr/>
        </p:nvSpPr>
        <p:spPr>
          <a:xfrm>
            <a:off x="8778325" y="4821650"/>
            <a:ext cx="3366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12</a:t>
            </a:r>
            <a:endParaRPr sz="1000">
              <a:solidFill>
                <a:schemeClr val="dk2"/>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6"/>
          <p:cNvSpPr txBox="1"/>
          <p:nvPr/>
        </p:nvSpPr>
        <p:spPr>
          <a:xfrm>
            <a:off x="168700" y="139425"/>
            <a:ext cx="8778000" cy="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2"/>
                </a:solidFill>
                <a:latin typeface="DM Sans"/>
                <a:ea typeface="DM Sans"/>
                <a:cs typeface="DM Sans"/>
                <a:sym typeface="DM Sans"/>
              </a:rPr>
              <a:t>Future Work</a:t>
            </a:r>
            <a:endParaRPr sz="3000">
              <a:solidFill>
                <a:schemeClr val="dk2"/>
              </a:solidFill>
              <a:latin typeface="DM Sans"/>
              <a:ea typeface="DM Sans"/>
              <a:cs typeface="DM Sans"/>
              <a:sym typeface="DM Sans"/>
            </a:endParaRPr>
          </a:p>
        </p:txBody>
      </p:sp>
      <p:sp>
        <p:nvSpPr>
          <p:cNvPr id="590" name="Google Shape;590;p56"/>
          <p:cNvSpPr txBox="1"/>
          <p:nvPr/>
        </p:nvSpPr>
        <p:spPr>
          <a:xfrm>
            <a:off x="168700" y="627600"/>
            <a:ext cx="8726100" cy="388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Repeat the comparison using ATAC-seq data</a:t>
            </a:r>
            <a:endParaRPr sz="1600">
              <a:solidFill>
                <a:schemeClr val="dk2"/>
              </a:solidFill>
              <a:latin typeface="DM Sans"/>
              <a:ea typeface="DM Sans"/>
              <a:cs typeface="DM Sans"/>
              <a:sym typeface="DM Sans"/>
            </a:endParaRPr>
          </a:p>
          <a:p>
            <a:pPr indent="0" lvl="0" marL="457200" rtl="0" algn="l">
              <a:spcBef>
                <a:spcPts val="0"/>
              </a:spcBef>
              <a:spcAft>
                <a:spcPts val="0"/>
              </a:spcAft>
              <a:buNone/>
            </a:pPr>
            <a:r>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Validate predicted TF activity using independent ChIP-seq evidence</a:t>
            </a:r>
            <a:endParaRPr sz="1600">
              <a:solidFill>
                <a:schemeClr val="dk2"/>
              </a:solidFill>
              <a:latin typeface="DM Sans"/>
              <a:ea typeface="DM Sans"/>
              <a:cs typeface="DM Sans"/>
              <a:sym typeface="DM Sans"/>
            </a:endParaRPr>
          </a:p>
          <a:p>
            <a:pPr indent="0" lvl="0" marL="0" rtl="0" algn="l">
              <a:spcBef>
                <a:spcPts val="0"/>
              </a:spcBef>
              <a:spcAft>
                <a:spcPts val="0"/>
              </a:spcAft>
              <a:buNone/>
            </a:pPr>
            <a:r>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Include additional cell types and biological comparisons</a:t>
            </a:r>
            <a:endParaRPr sz="1600">
              <a:solidFill>
                <a:schemeClr val="dk2"/>
              </a:solidFill>
              <a:latin typeface="DM Sans"/>
              <a:ea typeface="DM Sans"/>
              <a:cs typeface="DM Sans"/>
              <a:sym typeface="DM Sans"/>
            </a:endParaRPr>
          </a:p>
          <a:p>
            <a:pPr indent="0" lvl="0" marL="0" rtl="0" algn="l">
              <a:spcBef>
                <a:spcPts val="0"/>
              </a:spcBef>
              <a:spcAft>
                <a:spcPts val="0"/>
              </a:spcAft>
              <a:buNone/>
            </a:pPr>
            <a:r>
              <a:t/>
            </a:r>
            <a:endParaRPr sz="1600">
              <a:solidFill>
                <a:schemeClr val="dk2"/>
              </a:solidFill>
              <a:latin typeface="DM Sans"/>
              <a:ea typeface="DM Sans"/>
              <a:cs typeface="DM Sans"/>
              <a:sym typeface="DM Sans"/>
            </a:endParaRPr>
          </a:p>
          <a:p>
            <a:pPr indent="-330200" lvl="0" marL="457200" rtl="0" algn="l">
              <a:spcBef>
                <a:spcPts val="0"/>
              </a:spcBef>
              <a:spcAft>
                <a:spcPts val="0"/>
              </a:spcAft>
              <a:buClr>
                <a:schemeClr val="dk2"/>
              </a:buClr>
              <a:buSzPts val="1600"/>
              <a:buFont typeface="DM Sans"/>
              <a:buChar char="-"/>
            </a:pPr>
            <a:r>
              <a:rPr lang="en" sz="1600">
                <a:solidFill>
                  <a:schemeClr val="dk2"/>
                </a:solidFill>
                <a:latin typeface="DM Sans"/>
                <a:ea typeface="DM Sans"/>
                <a:cs typeface="DM Sans"/>
                <a:sym typeface="DM Sans"/>
              </a:rPr>
              <a:t>Examine how regulatory region definitions, gene linking, and final filtering affect pipeline agreement</a:t>
            </a:r>
            <a:endParaRPr sz="1600">
              <a:solidFill>
                <a:schemeClr val="dk2"/>
              </a:solidFill>
              <a:latin typeface="DM Sans"/>
              <a:ea typeface="DM Sans"/>
              <a:cs typeface="DM Sans"/>
              <a:sym typeface="DM Sans"/>
            </a:endParaRPr>
          </a:p>
        </p:txBody>
      </p:sp>
      <p:sp>
        <p:nvSpPr>
          <p:cNvPr id="591" name="Google Shape;591;p56"/>
          <p:cNvSpPr txBox="1"/>
          <p:nvPr/>
        </p:nvSpPr>
        <p:spPr>
          <a:xfrm>
            <a:off x="8778325" y="4821650"/>
            <a:ext cx="3366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13</a:t>
            </a:r>
            <a:endParaRPr sz="1000">
              <a:solidFill>
                <a:schemeClr val="dk2"/>
              </a:solidFill>
              <a:latin typeface="DM Sans"/>
              <a:ea typeface="DM Sans"/>
              <a:cs typeface="DM Sans"/>
              <a:sym typeface="DM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7"/>
          <p:cNvSpPr txBox="1"/>
          <p:nvPr/>
        </p:nvSpPr>
        <p:spPr>
          <a:xfrm>
            <a:off x="456675" y="392350"/>
            <a:ext cx="8251800" cy="46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2"/>
                </a:solidFill>
                <a:latin typeface="DM Sans"/>
                <a:ea typeface="DM Sans"/>
                <a:cs typeface="DM Sans"/>
                <a:sym typeface="DM Sans"/>
              </a:rPr>
              <a:t>References</a:t>
            </a:r>
            <a:endParaRPr sz="1200">
              <a:solidFill>
                <a:schemeClr val="dk2"/>
              </a:solidFill>
              <a:latin typeface="DM Sans"/>
              <a:ea typeface="DM Sans"/>
              <a:cs typeface="DM Sans"/>
              <a:sym typeface="DM Sans"/>
            </a:endParaRPr>
          </a:p>
          <a:p>
            <a:pPr indent="-273050" lvl="0" marL="457200" rtl="0" algn="l">
              <a:spcBef>
                <a:spcPts val="0"/>
              </a:spcBef>
              <a:spcAft>
                <a:spcPts val="0"/>
              </a:spcAft>
              <a:buClr>
                <a:schemeClr val="dk2"/>
              </a:buClr>
              <a:buSzPts val="700"/>
              <a:buChar char="-"/>
            </a:pPr>
            <a:r>
              <a:rPr lang="en" sz="700">
                <a:solidFill>
                  <a:schemeClr val="dk2"/>
                </a:solidFill>
              </a:rPr>
              <a:t>1. Karagiannis TC, Wall M, Ververis K, Pitsillou E, Tortorella SM, Wood PA, Rafehi H, Khurana I, Maxwell SS, Hung A, Vongsvivut J, El-Osta A. Characterization of K562 cells: uncovering novel chromosomes, assessing transferrin receptor expression, and probing pharmacological therapies. Cell Mol Life Sci. 2023 Aug 14;80(9):248. doi: 10.1007/s00018-023-04905-6. PMID: 37578596; PMCID: PMC11072675.</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hlink"/>
                </a:solidFill>
              </a:rPr>
              <a:t>2. European Collection of Authenticated Cell Cultures. (n.d.). </a:t>
            </a:r>
            <a:r>
              <a:rPr i="1" lang="en" sz="700">
                <a:solidFill>
                  <a:schemeClr val="hlink"/>
                </a:solidFill>
              </a:rPr>
              <a:t>Cell line profile MCF7 (ECACC catalogue no. 86012803)</a:t>
            </a:r>
            <a:r>
              <a:rPr lang="en" sz="700">
                <a:solidFill>
                  <a:schemeClr val="hlink"/>
                </a:solidFill>
              </a:rPr>
              <a:t>. UK Health Security Agency. Retrieved August 14, 2026, from</a:t>
            </a:r>
            <a:r>
              <a:rPr lang="en" sz="700">
                <a:solidFill>
                  <a:schemeClr val="hlink"/>
                </a:solidFill>
                <a:uFill>
                  <a:noFill/>
                </a:uFill>
                <a:hlinkClick r:id="rId3"/>
              </a:rPr>
              <a:t> </a:t>
            </a:r>
            <a:r>
              <a:rPr lang="en" sz="700" u="sng">
                <a:solidFill>
                  <a:schemeClr val="hlink"/>
                </a:solidFill>
                <a:hlinkClick r:id="rId4"/>
              </a:rPr>
              <a:t>https://www.culturecollections.org.uk/products/cell-cultures/ecacc-cell-line-profiles/mcf7/</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3. Hoffmann M, Trummer N, Schwartz L, Jankowski J, Lee HK, Willruth LL, Lazareva O, Yuan K, Baumgarten N, Schmidt F, Baumbach J, Schulz MH, Blumenthal DB, Hennighausen L, List M. TF-Prioritizer: a Java pipeline to prioritize condition-specific transcription factors. Gigascience. 2022 Dec 28;12:giad026. doi: 10.1093/gigascience/giad026. Epub 2023 May 3. PMID: 37132521; PMCID: PMC10155229.</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4. Berest I, Arnold C, Reyes-Palomares A, Palla G, Rasmussen KD, Giles H, Bruch PM, Huber W, Dietrich S, Helin K, Zaugg JB. Quantification of Differential Transcription Factor Activity and Multiomics-Based Classification into Activators and Repressors: diffTF. Cell Rep. 2019 Dec 3;29(10):3147-3159.e12. doi: 10.1016/j.celrep.2019.10.106. PMID: 31801079.</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5. Dennis Hecker, Fatemeh Behjati Ardakani, Alexander Karollus, Julien Gagneur, Marcel H Schulz, The adapted Activity-By-Contact model for enhancer–gene assignment and its application to single-cell data, Bioinformatics, Volume 39, Issue 2, February 2023, btad062, https://doi.org/10.1093/bioinformatics/btad062</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6. Schmidt F, Kern F, Ebert P, Baumgarten N, Schulz MH. TEPIC 2-an extended framework for transcription factor binding prediction and integrative epigenomic analysis. Bioinformatics. 2019 May 1;35(9):1608-1609. doi: 10.1093/bioinformatics/bty856. PMID: 30304373; PMCID: PMC6499243.</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7. Won Ju Yun, Yea Woon Kim, Yujin Kang, Jungbae Lee, Ann Dean, AeRi Kim, The hematopoietic regulator TAL1 is required for chromatin looping between the β-globin LCR and human γ-globin genes to activate transcription, Nucleic Acids Research, Volume 42, Issue 7, 1 April 2014, Pages 4283–4293, </a:t>
            </a:r>
            <a:r>
              <a:rPr lang="en" sz="700" u="sng">
                <a:solidFill>
                  <a:schemeClr val="hlink"/>
                </a:solidFill>
                <a:hlinkClick r:id="rId5"/>
              </a:rPr>
              <a:t>https://doi.org/10.1093/nar/gku072</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8. Guo Y, Fu X, Huo B, Wang Y, Sun J, Meng L, Hao T, Zhao ZJ, Hu X. GATA2 regulates GATA1 expression through LSD1-mediated histone modification. Am J Transl Res. 2016 May 15;8(5):2265-74. PMID: 27347333; PMCID: PMC4891438.</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9. Olga N. Kuvardina, Julia Herglotz, Stephan Kolodziej, Nicole Kohrs, Stefanie Herkt, Bartosch Wojcik, Thomas Oellerich, Jasmin Corso, Kira Behrens, Ashok Kumar, Helge Hussong, Henning Urlaub, Joachim Koch, Hubert Serve, Halvard Bonig, Carol Stocking, Michael A. Rieger, Jörn Lausen; RUNX1 represses the erythroid gene expression program during megakaryocytic differentiation. Blood 2015; 125 (23): 3570–3579. doi: </a:t>
            </a:r>
            <a:r>
              <a:rPr lang="en" sz="700" u="sng">
                <a:solidFill>
                  <a:schemeClr val="hlink"/>
                </a:solidFill>
                <a:hlinkClick r:id="rId6"/>
              </a:rPr>
              <a:t>https://doi.org/10.1182/blood-2014-11-610519</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10. Gina M. Bernardo, Kristen L. Lozada, John D. Miedler, Gwyndolen Harburg, Sylvia C. Hewitt, Jonathan D. Mosley, Andrew K. Godwin, Kenneth S. Korach, Jane E. Visvader, Klaus H. Kaestner, Fadi W. Abdul-Karim, Monica M. Montano, Ruth A. Keri; FOXA1 is an essential determinant of ERα expression and mammary ductal morphogenesis. Development 15 June 2010; 137 (12): 2045–2054. doi: </a:t>
            </a:r>
            <a:r>
              <a:rPr lang="en" sz="700" u="sng">
                <a:solidFill>
                  <a:schemeClr val="hlink"/>
                </a:solidFill>
                <a:hlinkClick r:id="rId7"/>
              </a:rPr>
              <a:t>https://doi.org/10.1242/dev.043299</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11. Wang Z, et al. GRHL2-controlled gene expression networks in luminal breast cancer. Cell Communication and Signaling. 2023;21:15. </a:t>
            </a:r>
            <a:r>
              <a:rPr lang="en" sz="700" u="sng">
                <a:solidFill>
                  <a:schemeClr val="hlink"/>
                </a:solidFill>
                <a:hlinkClick r:id="rId8"/>
              </a:rPr>
              <a:t>https://doi.org/10.1186/s12964-022-01029-5</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12. Teplyakov E, Wu Q, Liu J, Pugacheva EM, Loukinov D, Boukaba A, Lobanenkov V, Strunnikov A. The downregulation of putative anticancer target BORIS/CTCFL in an addicted myeloid cancer cell line modulates the expression of multiple protein coding and ncRNA genes. Oncotarget. 2017 Sep 2;8(43):73448-73468. doi: 10.18632/oncotarget.20627. PMID: 29088719; PMCID: PMC5650274.</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13. Belew MS, Bhatia S, Keyvani Chahi A, Rentas S, Draper JS, Hope KJ. PLAG1 and USF2 Co-regulate Expression of Musashi-2 in Human Hematopoietic Stem and Progenitor Cells. Stem Cell Reports. 2018 Apr 10;10(4):1384-1397. doi: 10.1016/j.stemcr.2018.03.006. PMID: 29641991; PMCID: PMC5998603.</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14. Chu MC, Selam FB, Taylor HS. HOXA10 regulates p53 expression and matrigel invasion in human breast cancer cells. Cancer Biol Ther. 2004 Jun;3(6):568-72. doi: 10.4161/cbt.3.6.848. Epub 2004 Jun 15. PMID: 15044858.</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15. Prescott JD, Poczobutt JM, Tentler JJ, Walker DM, Gutierrez-Hartmann A. Mapping of ESE-1 subdomains required to initiate mammary epithelial cell transformation via a cytoplasmic mechanism. Mol Cancer. 2011 Aug 28;10:103. doi: 10.1186/1476-4598-10-103. PMID: 21871131; PMCID: PMC3183030.</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16. X. Ma, Z. Chen, D. Hua, D. He, L. Wang, P. Zhang, J. Wang, Y. Cai, C. Gao, X. Zhang, F. Zhang, T. Wang, T. Hong, L. Jin, X. Qi, S. Chen, X. Gu, D. Yang, Q. Pan, Y. Zhu, Y. Chen, D. Chen, L. Jiang, X. Han, Y. Zhang, J. Jin, &amp; X. Yao, Essential role for TrpC5-containing extracellular vesicles in breast cancer with chemotherapeutic resistance, Proc. Natl. Acad. Sci. U.S.A. 111 (17) 6389-6394, https://doi.org/10.1073/pnas.1400272111 (2014).</a:t>
            </a:r>
            <a:endParaRPr sz="700">
              <a:solidFill>
                <a:schemeClr val="dk2"/>
              </a:solidFill>
            </a:endParaRPr>
          </a:p>
          <a:p>
            <a:pPr indent="-273050" lvl="0" marL="457200" rtl="0" algn="l">
              <a:spcBef>
                <a:spcPts val="0"/>
              </a:spcBef>
              <a:spcAft>
                <a:spcPts val="0"/>
              </a:spcAft>
              <a:buClr>
                <a:schemeClr val="dk2"/>
              </a:buClr>
              <a:buSzPts val="700"/>
              <a:buChar char="-"/>
            </a:pPr>
            <a:r>
              <a:rPr lang="en" sz="700">
                <a:solidFill>
                  <a:schemeClr val="dk2"/>
                </a:solidFill>
              </a:rPr>
              <a:t>17. Ma HY, Sun R, Tian T, Zhou XJ, Chen ZH, Cao XC, Yu Y, Wang X. NFIX suppresses breast cancer cell proliferation by delaying mitosis through downregulation of CDK1 expression. Cell Death Discov. 2025 Feb 25;11(1):77. doi: 10.1038/s41420-025-02361-8. PMID: 40000619; PMCID: PMC11861311.</a:t>
            </a:r>
            <a:endParaRPr sz="700">
              <a:solidFill>
                <a:schemeClr val="dk2"/>
              </a:solidFill>
            </a:endParaRPr>
          </a:p>
          <a:p>
            <a:pPr indent="0" lvl="0" marL="0" rtl="0" algn="l">
              <a:spcBef>
                <a:spcPts val="0"/>
              </a:spcBef>
              <a:spcAft>
                <a:spcPts val="0"/>
              </a:spcAft>
              <a:buNone/>
            </a:pPr>
            <a:r>
              <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sp>
        <p:nvSpPr>
          <p:cNvPr id="597" name="Google Shape;597;p57"/>
          <p:cNvSpPr txBox="1"/>
          <p:nvPr/>
        </p:nvSpPr>
        <p:spPr>
          <a:xfrm>
            <a:off x="8778325" y="4821650"/>
            <a:ext cx="336600" cy="12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2"/>
                </a:solidFill>
                <a:latin typeface="DM Sans"/>
                <a:ea typeface="DM Sans"/>
                <a:cs typeface="DM Sans"/>
                <a:sym typeface="DM Sans"/>
              </a:rPr>
              <a:t>14</a:t>
            </a:r>
            <a:endParaRPr sz="1000">
              <a:solidFill>
                <a:schemeClr val="dk2"/>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